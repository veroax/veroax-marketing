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E2E"/>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E85D75"/>
          </a:solidFill>
          <a:ln/>
        </p:spPr>
      </p:sp>
      <p:sp>
        <p:nvSpPr>
          <p:cNvPr id="3" name="Shape 1"/>
          <p:cNvSpPr/>
          <p:nvPr/>
        </p:nvSpPr>
        <p:spPr>
          <a:xfrm>
            <a:off x="457200" y="0"/>
            <a:ext cx="182880" cy="6858000"/>
          </a:xfrm>
          <a:prstGeom prst="rect">
            <a:avLst/>
          </a:prstGeom>
          <a:solidFill>
            <a:srgbClr val="3FB8AF"/>
          </a:solidFill>
          <a:ln/>
        </p:spPr>
      </p:sp>
      <p:sp>
        <p:nvSpPr>
          <p:cNvPr id="4" name="Text 2"/>
          <p:cNvSpPr/>
          <p:nvPr/>
        </p:nvSpPr>
        <p:spPr>
          <a:xfrm>
            <a:off x="1280160" y="822960"/>
            <a:ext cx="7315200" cy="365760"/>
          </a:xfrm>
          <a:prstGeom prst="rect">
            <a:avLst/>
          </a:prstGeom>
          <a:noFill/>
          <a:ln/>
        </p:spPr>
        <p:txBody>
          <a:bodyPr wrap="square" lIns="0" tIns="0" rIns="0" bIns="0" rtlCol="0" anchor="ctr"/>
          <a:lstStyle/>
          <a:p>
            <a:pPr indent="0" marL="0">
              <a:buNone/>
            </a:pPr>
            <a:r>
              <a:rPr lang="en-US" sz="1200" b="1" spc="600" kern="0" dirty="0">
                <a:solidFill>
                  <a:srgbClr val="FCD34D"/>
                </a:solidFill>
                <a:latin typeface="Calibri" pitchFamily="34" charset="0"/>
                <a:ea typeface="Calibri" pitchFamily="34" charset="-122"/>
                <a:cs typeface="Calibri" pitchFamily="34" charset="-120"/>
              </a:rPr>
              <a:t>For brokerages</a:t>
            </a:r>
            <a:endParaRPr lang="en-US" sz="1200" dirty="0"/>
          </a:p>
        </p:txBody>
      </p:sp>
      <p:sp>
        <p:nvSpPr>
          <p:cNvPr id="5" name="Text 3"/>
          <p:cNvSpPr/>
          <p:nvPr/>
        </p:nvSpPr>
        <p:spPr>
          <a:xfrm>
            <a:off x="1280160" y="1280160"/>
            <a:ext cx="9144000" cy="1188720"/>
          </a:xfrm>
          <a:prstGeom prst="rect">
            <a:avLst/>
          </a:prstGeom>
          <a:noFill/>
          <a:ln/>
        </p:spPr>
        <p:txBody>
          <a:bodyPr wrap="square" lIns="0" tIns="0" rIns="0" bIns="0" rtlCol="0" anchor="ctr"/>
          <a:lstStyle/>
          <a:p>
            <a:pPr indent="0" marL="0">
              <a:buNone/>
            </a:pPr>
            <a:r>
              <a:rPr lang="en-US" sz="7200" b="1" dirty="0">
                <a:solidFill>
                  <a:srgbClr val="FF6B6B"/>
                </a:solidFill>
                <a:latin typeface="Calibri" pitchFamily="34" charset="0"/>
                <a:ea typeface="Calibri" pitchFamily="34" charset="-122"/>
                <a:cs typeface="Calibri" pitchFamily="34" charset="-120"/>
              </a:rPr>
              <a:t>veroax</a:t>
            </a:r>
            <a:pPr indent="0" marL="0">
              <a:buNone/>
            </a:pPr>
            <a:r>
              <a:rPr lang="en-US" sz="7200" b="1" dirty="0">
                <a:solidFill>
                  <a:srgbClr val="4ECDC4"/>
                </a:solidFill>
                <a:latin typeface="Calibri" pitchFamily="34" charset="0"/>
                <a:ea typeface="Calibri" pitchFamily="34" charset="-122"/>
                <a:cs typeface="Calibri" pitchFamily="34" charset="-120"/>
              </a:rPr>
              <a:t>•</a:t>
            </a:r>
            <a:endParaRPr lang="en-US" sz="7200" dirty="0"/>
          </a:p>
        </p:txBody>
      </p:sp>
      <p:sp>
        <p:nvSpPr>
          <p:cNvPr id="6" name="Text 4"/>
          <p:cNvSpPr/>
          <p:nvPr/>
        </p:nvSpPr>
        <p:spPr>
          <a:xfrm>
            <a:off x="1280160" y="2651760"/>
            <a:ext cx="10058400" cy="1645920"/>
          </a:xfrm>
          <a:prstGeom prst="rect">
            <a:avLst/>
          </a:prstGeom>
          <a:noFill/>
          <a:ln/>
        </p:spPr>
        <p:txBody>
          <a:bodyPr wrap="square" lIns="0" tIns="0" rIns="0" bIns="0" rtlCol="0" anchor="ctr"/>
          <a:lstStyle/>
          <a:p>
            <a:pPr indent="0" marL="0">
              <a:lnSpc>
                <a:spcPct val="120000"/>
              </a:lnSpc>
              <a:buNone/>
            </a:pPr>
            <a:r>
              <a:rPr lang="en-US" sz="3000" dirty="0">
                <a:solidFill>
                  <a:srgbClr val="FFFFFF"/>
                </a:solidFill>
                <a:latin typeface="Calibri" pitchFamily="34" charset="0"/>
                <a:ea typeface="Calibri" pitchFamily="34" charset="-122"/>
                <a:cs typeface="Calibri" pitchFamily="34" charset="-120"/>
              </a:rPr>
              <a:t>A defensible disclosure review for every buyer your office represents.</a:t>
            </a:r>
            <a:endParaRPr lang="en-US" sz="3000" dirty="0"/>
          </a:p>
        </p:txBody>
      </p:sp>
      <p:sp>
        <p:nvSpPr>
          <p:cNvPr id="7" name="Text 5"/>
          <p:cNvSpPr/>
          <p:nvPr/>
        </p:nvSpPr>
        <p:spPr>
          <a:xfrm>
            <a:off x="1280160" y="4572000"/>
            <a:ext cx="9144000" cy="914400"/>
          </a:xfrm>
          <a:prstGeom prst="rect">
            <a:avLst/>
          </a:prstGeom>
          <a:noFill/>
          <a:ln/>
        </p:spPr>
        <p:txBody>
          <a:bodyPr wrap="square" lIns="0" tIns="0" rIns="0" bIns="0" rtlCol="0" anchor="ctr"/>
          <a:lstStyle/>
          <a:p>
            <a:pPr indent="0" marL="0">
              <a:lnSpc>
                <a:spcPct val="135000"/>
              </a:lnSpc>
              <a:buNone/>
            </a:pPr>
            <a:r>
              <a:rPr lang="en-US" sz="1800" dirty="0">
                <a:solidFill>
                  <a:srgbClr val="CBD5E1"/>
                </a:solidFill>
                <a:latin typeface="Calibri Light" pitchFamily="34" charset="0"/>
                <a:ea typeface="Calibri Light" pitchFamily="34" charset="-122"/>
                <a:cs typeface="Calibri Light" pitchFamily="34" charset="-120"/>
              </a:rPr>
              <a:t>Branded for your office. Built for the way your agents actually work. Priced to pay for itself on the first transaction.</a:t>
            </a:r>
            <a:endParaRPr lang="en-US" sz="1800" dirty="0"/>
          </a:p>
        </p:txBody>
      </p:sp>
      <p:sp>
        <p:nvSpPr>
          <p:cNvPr id="8" name="Text 6"/>
          <p:cNvSpPr/>
          <p:nvPr/>
        </p:nvSpPr>
        <p:spPr>
          <a:xfrm>
            <a:off x="1280160" y="6126480"/>
            <a:ext cx="10058400" cy="320040"/>
          </a:xfrm>
          <a:prstGeom prst="rect">
            <a:avLst/>
          </a:prstGeom>
          <a:noFill/>
          <a:ln/>
        </p:spPr>
        <p:txBody>
          <a:bodyPr wrap="square" lIns="0" tIns="0" rIns="0" bIns="0" rtlCol="0" anchor="ctr"/>
          <a:lstStyle/>
          <a:p>
            <a:pPr indent="0" marL="0">
              <a:buNone/>
            </a:pPr>
            <a:r>
              <a:rPr lang="en-US" sz="1200" dirty="0">
                <a:solidFill>
                  <a:srgbClr val="CBD5E1"/>
                </a:solidFill>
                <a:latin typeface="Calibri" pitchFamily="34" charset="0"/>
                <a:ea typeface="Calibri" pitchFamily="34" charset="-122"/>
                <a:cs typeface="Calibri" pitchFamily="34" charset="-120"/>
              </a:rPr>
              <a:t>michael@michaelfielden.com</a:t>
            </a:r>
            <a:pPr indent="0" marL="0">
              <a:buNone/>
            </a:pPr>
            <a:r>
              <a:rPr lang="en-US" sz="1200" dirty="0">
                <a:solidFill>
                  <a:srgbClr val="4ECDC4"/>
                </a:solidFill>
                <a:latin typeface="Calibri" pitchFamily="34" charset="0"/>
                <a:ea typeface="Calibri" pitchFamily="34" charset="-122"/>
                <a:cs typeface="Calibri" pitchFamily="34" charset="-120"/>
              </a:rPr>
              <a:t>  •  </a:t>
            </a:r>
            <a:pPr indent="0" marL="0">
              <a:buNone/>
            </a:pPr>
            <a:r>
              <a:rPr lang="en-US" sz="1200" dirty="0">
                <a:solidFill>
                  <a:srgbClr val="CBD5E1"/>
                </a:solidFill>
                <a:latin typeface="Calibri" pitchFamily="34" charset="0"/>
                <a:ea typeface="Calibri" pitchFamily="34" charset="-122"/>
                <a:cs typeface="Calibri" pitchFamily="34" charset="-120"/>
              </a:rPr>
              <a:t>(866) 247-8833</a:t>
            </a:r>
            <a:pPr indent="0" marL="0">
              <a:buNone/>
            </a:pPr>
            <a:r>
              <a:rPr lang="en-US" sz="1200" dirty="0">
                <a:solidFill>
                  <a:srgbClr val="4ECDC4"/>
                </a:solidFill>
                <a:latin typeface="Calibri" pitchFamily="34" charset="0"/>
                <a:ea typeface="Calibri" pitchFamily="34" charset="-122"/>
                <a:cs typeface="Calibri" pitchFamily="34" charset="-120"/>
              </a:rPr>
              <a:t>  •  </a:t>
            </a:r>
            <a:pPr indent="0" marL="0">
              <a:buNone/>
            </a:pPr>
            <a:r>
              <a:rPr lang="en-US" sz="1200" dirty="0">
                <a:solidFill>
                  <a:srgbClr val="CBD5E1"/>
                </a:solidFill>
                <a:latin typeface="Calibri" pitchFamily="34" charset="0"/>
                <a:ea typeface="Calibri" pitchFamily="34" charset="-122"/>
                <a:cs typeface="Calibri" pitchFamily="34" charset="-120"/>
              </a:rPr>
              <a:t>www.veroax.com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2"/>
        </a:solidFill>
      </p:bgPr>
    </p:bg>
    <p:spTree>
      <p:nvGrpSpPr>
        <p:cNvPr id="1" name=""/>
        <p:cNvGrpSpPr/>
        <p:nvPr/>
      </p:nvGrpSpPr>
      <p:grpSpPr>
        <a:xfrm>
          <a:off x="0" y="0"/>
          <a:ext cx="0" cy="0"/>
          <a:chOff x="0" y="0"/>
          <a:chExt cx="0" cy="0"/>
        </a:xfrm>
      </p:grpSpPr>
      <p:sp>
        <p:nvSpPr>
          <p:cNvPr id="2" name="Text 0"/>
          <p:cNvSpPr/>
          <p:nvPr/>
        </p:nvSpPr>
        <p:spPr>
          <a:xfrm>
            <a:off x="457200" y="365760"/>
            <a:ext cx="1097280" cy="228600"/>
          </a:xfrm>
          <a:prstGeom prst="rect">
            <a:avLst/>
          </a:prstGeom>
          <a:noFill/>
          <a:ln/>
        </p:spPr>
        <p:txBody>
          <a:bodyPr wrap="square" lIns="0" tIns="0" rIns="0" bIns="0"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02 / 12</a:t>
            </a:r>
            <a:endParaRPr lang="en-US" sz="900" dirty="0"/>
          </a:p>
        </p:txBody>
      </p:sp>
      <p:sp>
        <p:nvSpPr>
          <p:cNvPr id="3" name="Text 1"/>
          <p:cNvSpPr/>
          <p:nvPr/>
        </p:nvSpPr>
        <p:spPr>
          <a:xfrm>
            <a:off x="457200" y="777240"/>
            <a:ext cx="10972800" cy="320040"/>
          </a:xfrm>
          <a:prstGeom prst="rect">
            <a:avLst/>
          </a:prstGeom>
          <a:noFill/>
          <a:ln/>
        </p:spPr>
        <p:txBody>
          <a:bodyPr wrap="square" lIns="0" tIns="0" rIns="0" bIns="0" rtlCol="0" anchor="ctr"/>
          <a:lstStyle/>
          <a:p>
            <a:pPr indent="0" marL="0">
              <a:buNone/>
            </a:pPr>
            <a:r>
              <a:rPr lang="en-US" sz="1100" b="1" spc="500" kern="0" dirty="0">
                <a:solidFill>
                  <a:srgbClr val="E85D75"/>
                </a:solidFill>
                <a:latin typeface="Calibri" pitchFamily="34" charset="0"/>
                <a:ea typeface="Calibri" pitchFamily="34" charset="-122"/>
                <a:cs typeface="Calibri" pitchFamily="34" charset="-120"/>
              </a:rPr>
              <a:t>The problem</a:t>
            </a:r>
            <a:endParaRPr lang="en-US" sz="1100" dirty="0"/>
          </a:p>
        </p:txBody>
      </p:sp>
      <p:sp>
        <p:nvSpPr>
          <p:cNvPr id="4" name="Text 2"/>
          <p:cNvSpPr/>
          <p:nvPr/>
        </p:nvSpPr>
        <p:spPr>
          <a:xfrm>
            <a:off x="457200" y="1143000"/>
            <a:ext cx="11247120" cy="914400"/>
          </a:xfrm>
          <a:prstGeom prst="rect">
            <a:avLst/>
          </a:prstGeom>
          <a:noFill/>
          <a:ln/>
        </p:spPr>
        <p:txBody>
          <a:bodyPr wrap="square" lIns="0" tIns="0" rIns="0" bIns="0" rtlCol="0" anchor="ctr"/>
          <a:lstStyle/>
          <a:p>
            <a:pPr indent="0" marL="0">
              <a:lnSpc>
                <a:spcPct val="110000"/>
              </a:lnSpc>
              <a:buNone/>
            </a:pPr>
            <a:r>
              <a:rPr lang="en-US" sz="3200" b="1" dirty="0">
                <a:solidFill>
                  <a:srgbClr val="0F172A"/>
                </a:solidFill>
                <a:latin typeface="Calibri" pitchFamily="34" charset="0"/>
                <a:ea typeface="Calibri" pitchFamily="34" charset="-122"/>
                <a:cs typeface="Calibri" pitchFamily="34" charset="-120"/>
              </a:rPr>
              <a:t>Your agents are reading 600 pages between dinner and the contingency deadline.</a:t>
            </a:r>
            <a:endParaRPr lang="en-US" sz="3200" dirty="0"/>
          </a:p>
        </p:txBody>
      </p:sp>
      <p:sp>
        <p:nvSpPr>
          <p:cNvPr id="5" name="Text 3"/>
          <p:cNvSpPr/>
          <p:nvPr/>
        </p:nvSpPr>
        <p:spPr>
          <a:xfrm>
            <a:off x="457200" y="2103120"/>
            <a:ext cx="11247120" cy="45720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California disclosure packages are bigger every year. The work is essential. The time to do it well does not exist.</a:t>
            </a:r>
            <a:endParaRPr lang="en-US" sz="1500" dirty="0"/>
          </a:p>
        </p:txBody>
      </p:sp>
      <p:sp>
        <p:nvSpPr>
          <p:cNvPr id="6" name="Shape 4"/>
          <p:cNvSpPr/>
          <p:nvPr/>
        </p:nvSpPr>
        <p:spPr>
          <a:xfrm>
            <a:off x="457200" y="2926080"/>
            <a:ext cx="6400800" cy="1005840"/>
          </a:xfrm>
          <a:prstGeom prst="rect">
            <a:avLst/>
          </a:prstGeom>
          <a:solidFill>
            <a:srgbClr val="FFFFFF"/>
          </a:solidFill>
          <a:ln w="12700">
            <a:solidFill>
              <a:srgbClr val="CBD5E1"/>
            </a:solidFill>
            <a:prstDash val="solid"/>
          </a:ln>
        </p:spPr>
      </p:sp>
      <p:sp>
        <p:nvSpPr>
          <p:cNvPr id="7" name="Shape 5"/>
          <p:cNvSpPr/>
          <p:nvPr/>
        </p:nvSpPr>
        <p:spPr>
          <a:xfrm>
            <a:off x="457200" y="2926080"/>
            <a:ext cx="91440" cy="1005840"/>
          </a:xfrm>
          <a:prstGeom prst="rect">
            <a:avLst/>
          </a:prstGeom>
          <a:solidFill>
            <a:srgbClr val="E85D75"/>
          </a:solidFill>
          <a:ln/>
        </p:spPr>
      </p:sp>
      <p:sp>
        <p:nvSpPr>
          <p:cNvPr id="8" name="Text 6"/>
          <p:cNvSpPr/>
          <p:nvPr/>
        </p:nvSpPr>
        <p:spPr>
          <a:xfrm>
            <a:off x="731520" y="3017520"/>
            <a:ext cx="59436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They skim</a:t>
            </a:r>
            <a:endParaRPr lang="en-US" sz="1600" dirty="0"/>
          </a:p>
        </p:txBody>
      </p:sp>
      <p:sp>
        <p:nvSpPr>
          <p:cNvPr id="9" name="Text 7"/>
          <p:cNvSpPr/>
          <p:nvPr/>
        </p:nvSpPr>
        <p:spPr>
          <a:xfrm>
            <a:off x="731520" y="3383280"/>
            <a:ext cx="5943600" cy="5029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Or they triage. Some sections get a real read, some get a paragraph at the end of the day.</a:t>
            </a:r>
            <a:endParaRPr lang="en-US" sz="1250" dirty="0"/>
          </a:p>
        </p:txBody>
      </p:sp>
      <p:sp>
        <p:nvSpPr>
          <p:cNvPr id="10" name="Shape 8"/>
          <p:cNvSpPr/>
          <p:nvPr/>
        </p:nvSpPr>
        <p:spPr>
          <a:xfrm>
            <a:off x="457200" y="4069080"/>
            <a:ext cx="6400800" cy="1005840"/>
          </a:xfrm>
          <a:prstGeom prst="rect">
            <a:avLst/>
          </a:prstGeom>
          <a:solidFill>
            <a:srgbClr val="FFFFFF"/>
          </a:solidFill>
          <a:ln w="12700">
            <a:solidFill>
              <a:srgbClr val="CBD5E1"/>
            </a:solidFill>
            <a:prstDash val="solid"/>
          </a:ln>
        </p:spPr>
      </p:sp>
      <p:sp>
        <p:nvSpPr>
          <p:cNvPr id="11" name="Shape 9"/>
          <p:cNvSpPr/>
          <p:nvPr/>
        </p:nvSpPr>
        <p:spPr>
          <a:xfrm>
            <a:off x="457200" y="4069080"/>
            <a:ext cx="91440" cy="1005840"/>
          </a:xfrm>
          <a:prstGeom prst="rect">
            <a:avLst/>
          </a:prstGeom>
          <a:solidFill>
            <a:srgbClr val="E85D75"/>
          </a:solidFill>
          <a:ln/>
        </p:spPr>
      </p:sp>
      <p:sp>
        <p:nvSpPr>
          <p:cNvPr id="12" name="Text 10"/>
          <p:cNvSpPr/>
          <p:nvPr/>
        </p:nvSpPr>
        <p:spPr>
          <a:xfrm>
            <a:off x="731520" y="4160520"/>
            <a:ext cx="59436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The misses are expensive</a:t>
            </a:r>
            <a:endParaRPr lang="en-US" sz="1600" dirty="0"/>
          </a:p>
        </p:txBody>
      </p:sp>
      <p:sp>
        <p:nvSpPr>
          <p:cNvPr id="13" name="Text 11"/>
          <p:cNvSpPr/>
          <p:nvPr/>
        </p:nvSpPr>
        <p:spPr>
          <a:xfrm>
            <a:off x="731520" y="4526280"/>
            <a:ext cx="5943600" cy="5029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Unpermitted additions, FPE panels, active HOA litigation, recurring water intrusion, solar PPA transfers. Every one of these can blow up at contingency removal.</a:t>
            </a:r>
            <a:endParaRPr lang="en-US" sz="1250" dirty="0"/>
          </a:p>
        </p:txBody>
      </p:sp>
      <p:sp>
        <p:nvSpPr>
          <p:cNvPr id="14" name="Shape 12"/>
          <p:cNvSpPr/>
          <p:nvPr/>
        </p:nvSpPr>
        <p:spPr>
          <a:xfrm>
            <a:off x="457200" y="5212080"/>
            <a:ext cx="6400800" cy="1005840"/>
          </a:xfrm>
          <a:prstGeom prst="rect">
            <a:avLst/>
          </a:prstGeom>
          <a:solidFill>
            <a:srgbClr val="FFFFFF"/>
          </a:solidFill>
          <a:ln w="12700">
            <a:solidFill>
              <a:srgbClr val="CBD5E1"/>
            </a:solidFill>
            <a:prstDash val="solid"/>
          </a:ln>
        </p:spPr>
      </p:sp>
      <p:sp>
        <p:nvSpPr>
          <p:cNvPr id="15" name="Shape 13"/>
          <p:cNvSpPr/>
          <p:nvPr/>
        </p:nvSpPr>
        <p:spPr>
          <a:xfrm>
            <a:off x="457200" y="5212080"/>
            <a:ext cx="91440" cy="1005840"/>
          </a:xfrm>
          <a:prstGeom prst="rect">
            <a:avLst/>
          </a:prstGeom>
          <a:solidFill>
            <a:srgbClr val="E85D75"/>
          </a:solidFill>
          <a:ln/>
        </p:spPr>
      </p:sp>
      <p:sp>
        <p:nvSpPr>
          <p:cNvPr id="16" name="Text 14"/>
          <p:cNvSpPr/>
          <p:nvPr/>
        </p:nvSpPr>
        <p:spPr>
          <a:xfrm>
            <a:off x="731520" y="5303520"/>
            <a:ext cx="594360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Your brand absorbs the trust hit</a:t>
            </a:r>
            <a:endParaRPr lang="en-US" sz="1600" dirty="0"/>
          </a:p>
        </p:txBody>
      </p:sp>
      <p:sp>
        <p:nvSpPr>
          <p:cNvPr id="17" name="Text 15"/>
          <p:cNvSpPr/>
          <p:nvPr/>
        </p:nvSpPr>
        <p:spPr>
          <a:xfrm>
            <a:off x="731520" y="5669280"/>
            <a:ext cx="5943600" cy="5029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When a buyer learns about a critical issue after they paid for the inspection report, the agent and the brokerage both lose credibility.</a:t>
            </a:r>
            <a:endParaRPr lang="en-US" sz="1250" dirty="0"/>
          </a:p>
        </p:txBody>
      </p:sp>
      <p:sp>
        <p:nvSpPr>
          <p:cNvPr id="18" name="Shape 16"/>
          <p:cNvSpPr/>
          <p:nvPr/>
        </p:nvSpPr>
        <p:spPr>
          <a:xfrm>
            <a:off x="7498080" y="2926080"/>
            <a:ext cx="4206240" cy="3337560"/>
          </a:xfrm>
          <a:prstGeom prst="rect">
            <a:avLst/>
          </a:prstGeom>
          <a:solidFill>
            <a:srgbClr val="0F0E2E"/>
          </a:solidFill>
          <a:ln/>
        </p:spPr>
      </p:sp>
      <p:sp>
        <p:nvSpPr>
          <p:cNvPr id="19" name="Text 17"/>
          <p:cNvSpPr/>
          <p:nvPr/>
        </p:nvSpPr>
        <p:spPr>
          <a:xfrm>
            <a:off x="7680960" y="3108960"/>
            <a:ext cx="3657600" cy="320040"/>
          </a:xfrm>
          <a:prstGeom prst="rect">
            <a:avLst/>
          </a:prstGeom>
          <a:noFill/>
          <a:ln/>
        </p:spPr>
        <p:txBody>
          <a:bodyPr wrap="square" lIns="0" tIns="0" rIns="0" bIns="0" rtlCol="0" anchor="ctr"/>
          <a:lstStyle/>
          <a:p>
            <a:pPr indent="0" marL="0">
              <a:buNone/>
            </a:pPr>
            <a:r>
              <a:rPr lang="en-US" sz="1100" b="1" spc="400" kern="0" dirty="0">
                <a:solidFill>
                  <a:srgbClr val="FCD34D"/>
                </a:solidFill>
                <a:latin typeface="Calibri" pitchFamily="34" charset="0"/>
                <a:ea typeface="Calibri" pitchFamily="34" charset="-122"/>
                <a:cs typeface="Calibri" pitchFamily="34" charset="-120"/>
              </a:rPr>
              <a:t>Per package</a:t>
            </a:r>
            <a:endParaRPr lang="en-US" sz="1100" dirty="0"/>
          </a:p>
        </p:txBody>
      </p:sp>
      <p:sp>
        <p:nvSpPr>
          <p:cNvPr id="20" name="Text 18"/>
          <p:cNvSpPr/>
          <p:nvPr/>
        </p:nvSpPr>
        <p:spPr>
          <a:xfrm>
            <a:off x="7680960" y="3383280"/>
            <a:ext cx="4023360" cy="1097280"/>
          </a:xfrm>
          <a:prstGeom prst="rect">
            <a:avLst/>
          </a:prstGeom>
          <a:noFill/>
          <a:ln/>
        </p:spPr>
        <p:txBody>
          <a:bodyPr wrap="square" lIns="0" tIns="0" rIns="0" bIns="0" rtlCol="0" anchor="ctr"/>
          <a:lstStyle/>
          <a:p>
            <a:pPr indent="0" marL="0">
              <a:buNone/>
            </a:pPr>
            <a:r>
              <a:rPr lang="en-US" sz="8000" b="1" dirty="0">
                <a:solidFill>
                  <a:srgbClr val="FF6B6B"/>
                </a:solidFill>
                <a:latin typeface="Calibri" pitchFamily="34" charset="0"/>
                <a:ea typeface="Calibri" pitchFamily="34" charset="-122"/>
                <a:cs typeface="Calibri" pitchFamily="34" charset="-120"/>
              </a:rPr>
              <a:t>3 to 5</a:t>
            </a:r>
            <a:endParaRPr lang="en-US" sz="8000" dirty="0"/>
          </a:p>
        </p:txBody>
      </p:sp>
      <p:sp>
        <p:nvSpPr>
          <p:cNvPr id="21" name="Text 19"/>
          <p:cNvSpPr/>
          <p:nvPr/>
        </p:nvSpPr>
        <p:spPr>
          <a:xfrm>
            <a:off x="7680960" y="4480560"/>
            <a:ext cx="384048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hours of careful agent reading</a:t>
            </a:r>
            <a:endParaRPr lang="en-US" sz="1400" dirty="0"/>
          </a:p>
        </p:txBody>
      </p:sp>
      <p:sp>
        <p:nvSpPr>
          <p:cNvPr id="22" name="Text 20"/>
          <p:cNvSpPr/>
          <p:nvPr/>
        </p:nvSpPr>
        <p:spPr>
          <a:xfrm>
            <a:off x="7680960" y="5029200"/>
            <a:ext cx="3840480" cy="1097280"/>
          </a:xfrm>
          <a:prstGeom prst="rect">
            <a:avLst/>
          </a:prstGeom>
          <a:noFill/>
          <a:ln/>
        </p:spPr>
        <p:txBody>
          <a:bodyPr wrap="square" lIns="0" tIns="0" rIns="0" bIns="0" rtlCol="0" anchor="ctr"/>
          <a:lstStyle/>
          <a:p>
            <a:pPr indent="0" marL="0">
              <a:lnSpc>
                <a:spcPct val="135000"/>
              </a:lnSpc>
              <a:buNone/>
            </a:pPr>
            <a:r>
              <a:rPr lang="en-US" sz="1200" dirty="0">
                <a:solidFill>
                  <a:srgbClr val="CBD5E1"/>
                </a:solidFill>
                <a:latin typeface="Calibri" pitchFamily="34" charset="0"/>
                <a:ea typeface="Calibri" pitchFamily="34" charset="-122"/>
                <a:cs typeface="Calibri" pitchFamily="34" charset="-120"/>
              </a:rPr>
              <a:t>That an agent is not billing for, not closing deals during, and rarely actually completes.</a:t>
            </a:r>
            <a:endParaRPr lang="en-US" sz="1200" dirty="0"/>
          </a:p>
        </p:txBody>
      </p:sp>
      <p:sp>
        <p:nvSpPr>
          <p:cNvPr id="23" name="Text 21"/>
          <p:cNvSpPr/>
          <p:nvPr/>
        </p:nvSpPr>
        <p:spPr>
          <a:xfrm>
            <a:off x="10728655" y="6446520"/>
            <a:ext cx="1280160" cy="274320"/>
          </a:xfrm>
          <a:prstGeom prst="rect">
            <a:avLst/>
          </a:prstGeom>
          <a:noFill/>
          <a:ln/>
        </p:spPr>
        <p:txBody>
          <a:bodyPr wrap="square" lIns="0" tIns="0" rIns="0" bIns="0" rtlCol="0" anchor="ctr"/>
          <a:lstStyle/>
          <a:p>
            <a:pPr algn="r" indent="0" marL="0">
              <a:buNone/>
            </a:pPr>
            <a:r>
              <a:rPr lang="en-US" sz="1200" b="1" dirty="0">
                <a:solidFill>
                  <a:srgbClr val="E85D75"/>
                </a:solidFill>
                <a:latin typeface="Calibri" pitchFamily="34" charset="0"/>
                <a:ea typeface="Calibri" pitchFamily="34" charset="-122"/>
                <a:cs typeface="Calibri" pitchFamily="34" charset="-120"/>
              </a:rPr>
              <a:t>veroax</a:t>
            </a:r>
            <a:pPr algn="r" indent="0" marL="0">
              <a:buNone/>
            </a:pPr>
            <a:r>
              <a:rPr lang="en-US" sz="1200" b="1" dirty="0">
                <a:solidFill>
                  <a:srgbClr val="3FB8AF"/>
                </a:solidFill>
                <a:latin typeface="Calibri" pitchFamily="34" charset="0"/>
                <a:ea typeface="Calibri" pitchFamily="34" charset="-122"/>
                <a:cs typeface="Calibri" pitchFamily="34" charset="-120"/>
              </a:rPr>
              <a:t> • </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 cy="228600"/>
          </a:xfrm>
          <a:prstGeom prst="rect">
            <a:avLst/>
          </a:prstGeom>
          <a:noFill/>
          <a:ln/>
        </p:spPr>
        <p:txBody>
          <a:bodyPr wrap="square" lIns="0" tIns="0" rIns="0" bIns="0"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03 / 12</a:t>
            </a:r>
            <a:endParaRPr lang="en-US" sz="900" dirty="0"/>
          </a:p>
        </p:txBody>
      </p:sp>
      <p:sp>
        <p:nvSpPr>
          <p:cNvPr id="3" name="Text 1"/>
          <p:cNvSpPr/>
          <p:nvPr/>
        </p:nvSpPr>
        <p:spPr>
          <a:xfrm>
            <a:off x="457200" y="777240"/>
            <a:ext cx="10972800" cy="320040"/>
          </a:xfrm>
          <a:prstGeom prst="rect">
            <a:avLst/>
          </a:prstGeom>
          <a:noFill/>
          <a:ln/>
        </p:spPr>
        <p:txBody>
          <a:bodyPr wrap="square" lIns="0" tIns="0" rIns="0" bIns="0" rtlCol="0" anchor="ctr"/>
          <a:lstStyle/>
          <a:p>
            <a:pPr indent="0" marL="0">
              <a:buNone/>
            </a:pPr>
            <a:r>
              <a:rPr lang="en-US" sz="1100" b="1" spc="500" kern="0" dirty="0">
                <a:solidFill>
                  <a:srgbClr val="E85D75"/>
                </a:solidFill>
                <a:latin typeface="Calibri" pitchFamily="34" charset="0"/>
                <a:ea typeface="Calibri" pitchFamily="34" charset="-122"/>
                <a:cs typeface="Calibri" pitchFamily="34" charset="-120"/>
              </a:rPr>
              <a:t>Why this matters at the brokerage level</a:t>
            </a:r>
            <a:endParaRPr lang="en-US" sz="1100" dirty="0"/>
          </a:p>
        </p:txBody>
      </p:sp>
      <p:sp>
        <p:nvSpPr>
          <p:cNvPr id="4" name="Text 2"/>
          <p:cNvSpPr/>
          <p:nvPr/>
        </p:nvSpPr>
        <p:spPr>
          <a:xfrm>
            <a:off x="457200" y="1143000"/>
            <a:ext cx="11247120" cy="914400"/>
          </a:xfrm>
          <a:prstGeom prst="rect">
            <a:avLst/>
          </a:prstGeom>
          <a:noFill/>
          <a:ln/>
        </p:spPr>
        <p:txBody>
          <a:bodyPr wrap="square" lIns="0" tIns="0" rIns="0" bIns="0" rtlCol="0" anchor="ctr"/>
          <a:lstStyle/>
          <a:p>
            <a:pPr indent="0" marL="0">
              <a:lnSpc>
                <a:spcPct val="110000"/>
              </a:lnSpc>
              <a:buNone/>
            </a:pPr>
            <a:r>
              <a:rPr lang="en-US" sz="3200" b="1" dirty="0">
                <a:solidFill>
                  <a:srgbClr val="0F172A"/>
                </a:solidFill>
                <a:latin typeface="Calibri" pitchFamily="34" charset="0"/>
                <a:ea typeface="Calibri" pitchFamily="34" charset="-122"/>
                <a:cs typeface="Calibri" pitchFamily="34" charset="-120"/>
              </a:rPr>
              <a:t>Disclosure misses cost more than the agent's time.</a:t>
            </a:r>
            <a:endParaRPr lang="en-US" sz="3200" dirty="0"/>
          </a:p>
        </p:txBody>
      </p:sp>
      <p:sp>
        <p:nvSpPr>
          <p:cNvPr id="5" name="Shape 3"/>
          <p:cNvSpPr/>
          <p:nvPr/>
        </p:nvSpPr>
        <p:spPr>
          <a:xfrm>
            <a:off x="457200" y="2834640"/>
            <a:ext cx="5486400" cy="1508760"/>
          </a:xfrm>
          <a:prstGeom prst="rect">
            <a:avLst/>
          </a:prstGeom>
          <a:solidFill>
            <a:srgbClr val="FAF8F2"/>
          </a:solidFill>
          <a:ln/>
        </p:spPr>
      </p:sp>
      <p:sp>
        <p:nvSpPr>
          <p:cNvPr id="6" name="Text 4"/>
          <p:cNvSpPr/>
          <p:nvPr/>
        </p:nvSpPr>
        <p:spPr>
          <a:xfrm>
            <a:off x="731520" y="3017520"/>
            <a:ext cx="1828800" cy="1097280"/>
          </a:xfrm>
          <a:prstGeom prst="rect">
            <a:avLst/>
          </a:prstGeom>
          <a:noFill/>
          <a:ln/>
        </p:spPr>
        <p:txBody>
          <a:bodyPr wrap="square" lIns="0" tIns="0" rIns="0" bIns="0" rtlCol="0" anchor="ctr"/>
          <a:lstStyle/>
          <a:p>
            <a:pPr indent="0" marL="0">
              <a:buNone/>
            </a:pPr>
            <a:r>
              <a:rPr lang="en-US" sz="4000" b="1" dirty="0">
                <a:solidFill>
                  <a:srgbClr val="E85D75"/>
                </a:solidFill>
                <a:latin typeface="Calibri" pitchFamily="34" charset="0"/>
                <a:ea typeface="Calibri" pitchFamily="34" charset="-122"/>
                <a:cs typeface="Calibri" pitchFamily="34" charset="-120"/>
              </a:rPr>
              <a:t>$300+</a:t>
            </a:r>
            <a:endParaRPr lang="en-US" sz="4000" dirty="0"/>
          </a:p>
        </p:txBody>
      </p:sp>
      <p:sp>
        <p:nvSpPr>
          <p:cNvPr id="7" name="Text 5"/>
          <p:cNvSpPr/>
          <p:nvPr/>
        </p:nvSpPr>
        <p:spPr>
          <a:xfrm>
            <a:off x="2743200" y="3063240"/>
            <a:ext cx="3108960" cy="1188720"/>
          </a:xfrm>
          <a:prstGeom prst="rect">
            <a:avLst/>
          </a:prstGeom>
          <a:noFill/>
          <a:ln/>
        </p:spPr>
        <p:txBody>
          <a:bodyPr wrap="square" lIns="0" tIns="0" rIns="0" bIns="0" rtlCol="0" anchor="ctr"/>
          <a:lstStyle/>
          <a:p>
            <a:pPr indent="0" marL="0">
              <a:lnSpc>
                <a:spcPct val="140000"/>
              </a:lnSpc>
              <a:buNone/>
            </a:pPr>
            <a:r>
              <a:rPr lang="en-US" sz="1300" dirty="0">
                <a:solidFill>
                  <a:srgbClr val="334155"/>
                </a:solidFill>
                <a:latin typeface="Calibri" pitchFamily="34" charset="0"/>
                <a:ea typeface="Calibri" pitchFamily="34" charset="-122"/>
                <a:cs typeface="Calibri" pitchFamily="34" charset="-120"/>
              </a:rPr>
              <a:t>paralegal-equivalent labor for a careful read (3 to 5 hours at a loaded rate)</a:t>
            </a:r>
            <a:endParaRPr lang="en-US" sz="1300" dirty="0"/>
          </a:p>
        </p:txBody>
      </p:sp>
      <p:sp>
        <p:nvSpPr>
          <p:cNvPr id="8" name="Shape 6"/>
          <p:cNvSpPr/>
          <p:nvPr/>
        </p:nvSpPr>
        <p:spPr>
          <a:xfrm>
            <a:off x="6217920" y="2834640"/>
            <a:ext cx="5486400" cy="1508760"/>
          </a:xfrm>
          <a:prstGeom prst="rect">
            <a:avLst/>
          </a:prstGeom>
          <a:solidFill>
            <a:srgbClr val="FAF8F2"/>
          </a:solidFill>
          <a:ln/>
        </p:spPr>
      </p:sp>
      <p:sp>
        <p:nvSpPr>
          <p:cNvPr id="9" name="Text 7"/>
          <p:cNvSpPr/>
          <p:nvPr/>
        </p:nvSpPr>
        <p:spPr>
          <a:xfrm>
            <a:off x="6492240" y="3017520"/>
            <a:ext cx="1828800" cy="1097280"/>
          </a:xfrm>
          <a:prstGeom prst="rect">
            <a:avLst/>
          </a:prstGeom>
          <a:noFill/>
          <a:ln/>
        </p:spPr>
        <p:txBody>
          <a:bodyPr wrap="square" lIns="0" tIns="0" rIns="0" bIns="0" rtlCol="0" anchor="ctr"/>
          <a:lstStyle/>
          <a:p>
            <a:pPr indent="0" marL="0">
              <a:buNone/>
            </a:pPr>
            <a:r>
              <a:rPr lang="en-US" sz="4000" b="1" dirty="0">
                <a:solidFill>
                  <a:srgbClr val="E85D75"/>
                </a:solidFill>
                <a:latin typeface="Calibri" pitchFamily="34" charset="0"/>
                <a:ea typeface="Calibri" pitchFamily="34" charset="-122"/>
                <a:cs typeface="Calibri" pitchFamily="34" charset="-120"/>
              </a:rPr>
              <a:t>1 in 6</a:t>
            </a:r>
            <a:endParaRPr lang="en-US" sz="4000" dirty="0"/>
          </a:p>
        </p:txBody>
      </p:sp>
      <p:sp>
        <p:nvSpPr>
          <p:cNvPr id="10" name="Text 8"/>
          <p:cNvSpPr/>
          <p:nvPr/>
        </p:nvSpPr>
        <p:spPr>
          <a:xfrm>
            <a:off x="8503920" y="3063240"/>
            <a:ext cx="3108960" cy="1188720"/>
          </a:xfrm>
          <a:prstGeom prst="rect">
            <a:avLst/>
          </a:prstGeom>
          <a:noFill/>
          <a:ln/>
        </p:spPr>
        <p:txBody>
          <a:bodyPr wrap="square" lIns="0" tIns="0" rIns="0" bIns="0" rtlCol="0" anchor="ctr"/>
          <a:lstStyle/>
          <a:p>
            <a:pPr indent="0" marL="0">
              <a:lnSpc>
                <a:spcPct val="140000"/>
              </a:lnSpc>
              <a:buNone/>
            </a:pPr>
            <a:r>
              <a:rPr lang="en-US" sz="1300" dirty="0">
                <a:solidFill>
                  <a:srgbClr val="334155"/>
                </a:solidFill>
                <a:latin typeface="Calibri" pitchFamily="34" charset="0"/>
                <a:ea typeface="Calibri" pitchFamily="34" charset="-122"/>
                <a:cs typeface="Calibri" pitchFamily="34" charset="-120"/>
              </a:rPr>
              <a:t>deals that hit a renegotiation or a fall-out moment driven by a missed disclosure (industry estimate)</a:t>
            </a:r>
            <a:endParaRPr lang="en-US" sz="1300" dirty="0"/>
          </a:p>
        </p:txBody>
      </p:sp>
      <p:sp>
        <p:nvSpPr>
          <p:cNvPr id="11" name="Shape 9"/>
          <p:cNvSpPr/>
          <p:nvPr/>
        </p:nvSpPr>
        <p:spPr>
          <a:xfrm>
            <a:off x="457200" y="4526280"/>
            <a:ext cx="5486400" cy="1508760"/>
          </a:xfrm>
          <a:prstGeom prst="rect">
            <a:avLst/>
          </a:prstGeom>
          <a:solidFill>
            <a:srgbClr val="FAF8F2"/>
          </a:solidFill>
          <a:ln/>
        </p:spPr>
      </p:sp>
      <p:sp>
        <p:nvSpPr>
          <p:cNvPr id="12" name="Text 10"/>
          <p:cNvSpPr/>
          <p:nvPr/>
        </p:nvSpPr>
        <p:spPr>
          <a:xfrm>
            <a:off x="731520" y="4709160"/>
            <a:ext cx="1828800" cy="1097280"/>
          </a:xfrm>
          <a:prstGeom prst="rect">
            <a:avLst/>
          </a:prstGeom>
          <a:noFill/>
          <a:ln/>
        </p:spPr>
        <p:txBody>
          <a:bodyPr wrap="square" lIns="0" tIns="0" rIns="0" bIns="0" rtlCol="0" anchor="ctr"/>
          <a:lstStyle/>
          <a:p>
            <a:pPr indent="0" marL="0">
              <a:buNone/>
            </a:pPr>
            <a:r>
              <a:rPr lang="en-US" sz="4000" b="1" dirty="0">
                <a:solidFill>
                  <a:srgbClr val="E85D75"/>
                </a:solidFill>
                <a:latin typeface="Calibri" pitchFamily="34" charset="0"/>
                <a:ea typeface="Calibri" pitchFamily="34" charset="-122"/>
                <a:cs typeface="Calibri" pitchFamily="34" charset="-120"/>
              </a:rPr>
              <a:t>$10K+</a:t>
            </a:r>
            <a:endParaRPr lang="en-US" sz="4000" dirty="0"/>
          </a:p>
        </p:txBody>
      </p:sp>
      <p:sp>
        <p:nvSpPr>
          <p:cNvPr id="13" name="Text 11"/>
          <p:cNvSpPr/>
          <p:nvPr/>
        </p:nvSpPr>
        <p:spPr>
          <a:xfrm>
            <a:off x="2743200" y="4754880"/>
            <a:ext cx="3108960" cy="1188720"/>
          </a:xfrm>
          <a:prstGeom prst="rect">
            <a:avLst/>
          </a:prstGeom>
          <a:noFill/>
          <a:ln/>
        </p:spPr>
        <p:txBody>
          <a:bodyPr wrap="square" lIns="0" tIns="0" rIns="0" bIns="0" rtlCol="0" anchor="ctr"/>
          <a:lstStyle/>
          <a:p>
            <a:pPr indent="0" marL="0">
              <a:lnSpc>
                <a:spcPct val="140000"/>
              </a:lnSpc>
              <a:buNone/>
            </a:pPr>
            <a:r>
              <a:rPr lang="en-US" sz="1300" dirty="0">
                <a:solidFill>
                  <a:srgbClr val="334155"/>
                </a:solidFill>
                <a:latin typeface="Calibri" pitchFamily="34" charset="0"/>
                <a:ea typeface="Calibri" pitchFamily="34" charset="-122"/>
                <a:cs typeface="Calibri" pitchFamily="34" charset="-120"/>
              </a:rPr>
              <a:t>average concession cost when a critical finding surfaces post-contingency</a:t>
            </a:r>
            <a:endParaRPr lang="en-US" sz="1300" dirty="0"/>
          </a:p>
        </p:txBody>
      </p:sp>
      <p:sp>
        <p:nvSpPr>
          <p:cNvPr id="14" name="Shape 12"/>
          <p:cNvSpPr/>
          <p:nvPr/>
        </p:nvSpPr>
        <p:spPr>
          <a:xfrm>
            <a:off x="6217920" y="4526280"/>
            <a:ext cx="5486400" cy="1508760"/>
          </a:xfrm>
          <a:prstGeom prst="rect">
            <a:avLst/>
          </a:prstGeom>
          <a:solidFill>
            <a:srgbClr val="FAF8F2"/>
          </a:solidFill>
          <a:ln/>
        </p:spPr>
      </p:sp>
      <p:sp>
        <p:nvSpPr>
          <p:cNvPr id="15" name="Text 13"/>
          <p:cNvSpPr/>
          <p:nvPr/>
        </p:nvSpPr>
        <p:spPr>
          <a:xfrm>
            <a:off x="6492240" y="4709160"/>
            <a:ext cx="1828800" cy="1097280"/>
          </a:xfrm>
          <a:prstGeom prst="rect">
            <a:avLst/>
          </a:prstGeom>
          <a:noFill/>
          <a:ln/>
        </p:spPr>
        <p:txBody>
          <a:bodyPr wrap="square" lIns="0" tIns="0" rIns="0" bIns="0" rtlCol="0" anchor="ctr"/>
          <a:lstStyle/>
          <a:p>
            <a:pPr indent="0" marL="0">
              <a:buNone/>
            </a:pPr>
            <a:r>
              <a:rPr lang="en-US" sz="4000" b="1" dirty="0">
                <a:solidFill>
                  <a:srgbClr val="E85D75"/>
                </a:solidFill>
                <a:latin typeface="Calibri" pitchFamily="34" charset="0"/>
                <a:ea typeface="Calibri" pitchFamily="34" charset="-122"/>
                <a:cs typeface="Calibri" pitchFamily="34" charset="-120"/>
              </a:rPr>
              <a:t>Years</a:t>
            </a:r>
            <a:endParaRPr lang="en-US" sz="4000" dirty="0"/>
          </a:p>
        </p:txBody>
      </p:sp>
      <p:sp>
        <p:nvSpPr>
          <p:cNvPr id="16" name="Text 14"/>
          <p:cNvSpPr/>
          <p:nvPr/>
        </p:nvSpPr>
        <p:spPr>
          <a:xfrm>
            <a:off x="8503920" y="4754880"/>
            <a:ext cx="3108960" cy="1188720"/>
          </a:xfrm>
          <a:prstGeom prst="rect">
            <a:avLst/>
          </a:prstGeom>
          <a:noFill/>
          <a:ln/>
        </p:spPr>
        <p:txBody>
          <a:bodyPr wrap="square" lIns="0" tIns="0" rIns="0" bIns="0" rtlCol="0" anchor="ctr"/>
          <a:lstStyle/>
          <a:p>
            <a:pPr indent="0" marL="0">
              <a:lnSpc>
                <a:spcPct val="140000"/>
              </a:lnSpc>
              <a:buNone/>
            </a:pPr>
            <a:r>
              <a:rPr lang="en-US" sz="1300" dirty="0">
                <a:solidFill>
                  <a:srgbClr val="334155"/>
                </a:solidFill>
                <a:latin typeface="Calibri" pitchFamily="34" charset="0"/>
                <a:ea typeface="Calibri" pitchFamily="34" charset="-122"/>
                <a:cs typeface="Calibri" pitchFamily="34" charset="-120"/>
              </a:rPr>
              <a:t>of client referral pipeline destroyed when the buyer feels they were not protected</a:t>
            </a:r>
            <a:endParaRPr lang="en-US" sz="1300" dirty="0"/>
          </a:p>
        </p:txBody>
      </p:sp>
      <p:sp>
        <p:nvSpPr>
          <p:cNvPr id="17" name="Text 15"/>
          <p:cNvSpPr/>
          <p:nvPr/>
        </p:nvSpPr>
        <p:spPr>
          <a:xfrm>
            <a:off x="457200" y="6309360"/>
            <a:ext cx="11247120" cy="365760"/>
          </a:xfrm>
          <a:prstGeom prst="rect">
            <a:avLst/>
          </a:prstGeom>
          <a:noFill/>
          <a:ln/>
        </p:spPr>
        <p:txBody>
          <a:bodyPr wrap="square" lIns="0" tIns="0" rIns="0" bIns="0" rtlCol="0" anchor="ctr"/>
          <a:lstStyle/>
          <a:p>
            <a:pPr indent="0" marL="0">
              <a:buNone/>
            </a:pPr>
            <a:r>
              <a:rPr lang="en-US" sz="1300" i="1" dirty="0">
                <a:solidFill>
                  <a:srgbClr val="334155"/>
                </a:solidFill>
                <a:latin typeface="Calibri" pitchFamily="34" charset="0"/>
                <a:ea typeface="Calibri" pitchFamily="34" charset="-122"/>
                <a:cs typeface="Calibri" pitchFamily="34" charset="-120"/>
              </a:rPr>
              <a:t>These costs land on the brokerage P&amp;L through E&amp;O claims, lost referrals, and the agents who quit when the deal volume drops.</a:t>
            </a:r>
            <a:endParaRPr lang="en-US" sz="1300" dirty="0"/>
          </a:p>
        </p:txBody>
      </p:sp>
      <p:sp>
        <p:nvSpPr>
          <p:cNvPr id="18" name="Text 16"/>
          <p:cNvSpPr/>
          <p:nvPr/>
        </p:nvSpPr>
        <p:spPr>
          <a:xfrm>
            <a:off x="10728655" y="6446520"/>
            <a:ext cx="1280160" cy="274320"/>
          </a:xfrm>
          <a:prstGeom prst="rect">
            <a:avLst/>
          </a:prstGeom>
          <a:noFill/>
          <a:ln/>
        </p:spPr>
        <p:txBody>
          <a:bodyPr wrap="square" lIns="0" tIns="0" rIns="0" bIns="0" rtlCol="0" anchor="ctr"/>
          <a:lstStyle/>
          <a:p>
            <a:pPr algn="r" indent="0" marL="0">
              <a:buNone/>
            </a:pPr>
            <a:r>
              <a:rPr lang="en-US" sz="1200" b="1" dirty="0">
                <a:solidFill>
                  <a:srgbClr val="E85D75"/>
                </a:solidFill>
                <a:latin typeface="Calibri" pitchFamily="34" charset="0"/>
                <a:ea typeface="Calibri" pitchFamily="34" charset="-122"/>
                <a:cs typeface="Calibri" pitchFamily="34" charset="-120"/>
              </a:rPr>
              <a:t>veroax</a:t>
            </a:r>
            <a:pPr algn="r" indent="0" marL="0">
              <a:buNone/>
            </a:pPr>
            <a:r>
              <a:rPr lang="en-US" sz="1200" b="1" dirty="0">
                <a:solidFill>
                  <a:srgbClr val="3FB8AF"/>
                </a:solidFill>
                <a:latin typeface="Calibri" pitchFamily="34" charset="0"/>
                <a:ea typeface="Calibri" pitchFamily="34" charset="-122"/>
                <a:cs typeface="Calibri" pitchFamily="34" charset="-120"/>
              </a:rPr>
              <a:t> •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 cy="228600"/>
          </a:xfrm>
          <a:prstGeom prst="rect">
            <a:avLst/>
          </a:prstGeom>
          <a:noFill/>
          <a:ln/>
        </p:spPr>
        <p:txBody>
          <a:bodyPr wrap="square" lIns="0" tIns="0" rIns="0" bIns="0"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04 / 12</a:t>
            </a:r>
            <a:endParaRPr lang="en-US" sz="900" dirty="0"/>
          </a:p>
        </p:txBody>
      </p:sp>
      <p:sp>
        <p:nvSpPr>
          <p:cNvPr id="3" name="Text 1"/>
          <p:cNvSpPr/>
          <p:nvPr/>
        </p:nvSpPr>
        <p:spPr>
          <a:xfrm>
            <a:off x="457200" y="777240"/>
            <a:ext cx="10972800" cy="320040"/>
          </a:xfrm>
          <a:prstGeom prst="rect">
            <a:avLst/>
          </a:prstGeom>
          <a:noFill/>
          <a:ln/>
        </p:spPr>
        <p:txBody>
          <a:bodyPr wrap="square" lIns="0" tIns="0" rIns="0" bIns="0" rtlCol="0" anchor="ctr"/>
          <a:lstStyle/>
          <a:p>
            <a:pPr indent="0" marL="0">
              <a:buNone/>
            </a:pPr>
            <a:r>
              <a:rPr lang="en-US" sz="1100" b="1" spc="500" kern="0" dirty="0">
                <a:solidFill>
                  <a:srgbClr val="E85D75"/>
                </a:solidFill>
                <a:latin typeface="Calibri" pitchFamily="34" charset="0"/>
                <a:ea typeface="Calibri" pitchFamily="34" charset="-122"/>
                <a:cs typeface="Calibri" pitchFamily="34" charset="-120"/>
              </a:rPr>
              <a:t>What Veroax does</a:t>
            </a:r>
            <a:endParaRPr lang="en-US" sz="1100" dirty="0"/>
          </a:p>
        </p:txBody>
      </p:sp>
      <p:sp>
        <p:nvSpPr>
          <p:cNvPr id="4" name="Text 2"/>
          <p:cNvSpPr/>
          <p:nvPr/>
        </p:nvSpPr>
        <p:spPr>
          <a:xfrm>
            <a:off x="457200" y="1143000"/>
            <a:ext cx="11247120" cy="914400"/>
          </a:xfrm>
          <a:prstGeom prst="rect">
            <a:avLst/>
          </a:prstGeom>
          <a:noFill/>
          <a:ln/>
        </p:spPr>
        <p:txBody>
          <a:bodyPr wrap="square" lIns="0" tIns="0" rIns="0" bIns="0" rtlCol="0" anchor="ctr"/>
          <a:lstStyle/>
          <a:p>
            <a:pPr indent="0" marL="0">
              <a:lnSpc>
                <a:spcPct val="110000"/>
              </a:lnSpc>
              <a:buNone/>
            </a:pPr>
            <a:r>
              <a:rPr lang="en-US" sz="3200" b="1" dirty="0">
                <a:solidFill>
                  <a:srgbClr val="0F172A"/>
                </a:solidFill>
                <a:latin typeface="Calibri" pitchFamily="34" charset="0"/>
                <a:ea typeface="Calibri" pitchFamily="34" charset="-122"/>
                <a:cs typeface="Calibri" pitchFamily="34" charset="-120"/>
              </a:rPr>
              <a:t>Upload to client-ready PDF in 90 seconds.</a:t>
            </a:r>
            <a:endParaRPr lang="en-US" sz="3200" dirty="0"/>
          </a:p>
        </p:txBody>
      </p:sp>
      <p:sp>
        <p:nvSpPr>
          <p:cNvPr id="5" name="Text 3"/>
          <p:cNvSpPr/>
          <p:nvPr/>
        </p:nvSpPr>
        <p:spPr>
          <a:xfrm>
            <a:off x="457200" y="2103120"/>
            <a:ext cx="11247120" cy="45720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Same disclosure package. A 14-section, severity-rated, regionally-priced buyer report your agent ships with their name on it.</a:t>
            </a:r>
            <a:endParaRPr lang="en-US" sz="1500" dirty="0"/>
          </a:p>
        </p:txBody>
      </p:sp>
      <p:sp>
        <p:nvSpPr>
          <p:cNvPr id="6" name="Shape 4"/>
          <p:cNvSpPr/>
          <p:nvPr/>
        </p:nvSpPr>
        <p:spPr>
          <a:xfrm>
            <a:off x="457200" y="2834640"/>
            <a:ext cx="3657600" cy="3383280"/>
          </a:xfrm>
          <a:prstGeom prst="rect">
            <a:avLst/>
          </a:prstGeom>
          <a:solidFill>
            <a:srgbClr val="FAF8F2"/>
          </a:solidFill>
          <a:ln/>
        </p:spPr>
      </p:sp>
      <p:sp>
        <p:nvSpPr>
          <p:cNvPr id="7" name="Shape 5"/>
          <p:cNvSpPr/>
          <p:nvPr/>
        </p:nvSpPr>
        <p:spPr>
          <a:xfrm>
            <a:off x="457200" y="2834640"/>
            <a:ext cx="3657600" cy="109728"/>
          </a:xfrm>
          <a:prstGeom prst="rect">
            <a:avLst/>
          </a:prstGeom>
          <a:solidFill>
            <a:srgbClr val="3FB8AF"/>
          </a:solidFill>
          <a:ln/>
        </p:spPr>
      </p:sp>
      <p:sp>
        <p:nvSpPr>
          <p:cNvPr id="8" name="Shape 6"/>
          <p:cNvSpPr/>
          <p:nvPr/>
        </p:nvSpPr>
        <p:spPr>
          <a:xfrm>
            <a:off x="731520" y="3154680"/>
            <a:ext cx="502920" cy="502920"/>
          </a:xfrm>
          <a:prstGeom prst="ellipse">
            <a:avLst/>
          </a:prstGeom>
          <a:solidFill>
            <a:srgbClr val="E85D75"/>
          </a:solidFill>
          <a:ln/>
        </p:spPr>
      </p:sp>
      <p:sp>
        <p:nvSpPr>
          <p:cNvPr id="9" name="Text 7"/>
          <p:cNvSpPr/>
          <p:nvPr/>
        </p:nvSpPr>
        <p:spPr>
          <a:xfrm>
            <a:off x="731520" y="31546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731520" y="3749040"/>
            <a:ext cx="3108960" cy="731520"/>
          </a:xfrm>
          <a:prstGeom prst="rect">
            <a:avLst/>
          </a:prstGeom>
          <a:noFill/>
          <a:ln/>
        </p:spPr>
        <p:txBody>
          <a:bodyPr wrap="square" lIns="0" tIns="0" rIns="0" bIns="0" rtlCol="0" anchor="ctr"/>
          <a:lstStyle/>
          <a:p>
            <a:pPr indent="0" marL="0">
              <a:lnSpc>
                <a:spcPct val="120000"/>
              </a:lnSpc>
              <a:buNone/>
            </a:pPr>
            <a:r>
              <a:rPr lang="en-US" sz="1700" b="1" dirty="0">
                <a:solidFill>
                  <a:srgbClr val="0F172A"/>
                </a:solidFill>
                <a:latin typeface="Calibri" pitchFamily="34" charset="0"/>
                <a:ea typeface="Calibri" pitchFamily="34" charset="-122"/>
                <a:cs typeface="Calibri" pitchFamily="34" charset="-120"/>
              </a:rPr>
              <a:t>Catches what skimming misses</a:t>
            </a:r>
            <a:endParaRPr lang="en-US" sz="1700" dirty="0"/>
          </a:p>
        </p:txBody>
      </p:sp>
      <p:sp>
        <p:nvSpPr>
          <p:cNvPr id="11" name="Text 9"/>
          <p:cNvSpPr/>
          <p:nvPr/>
        </p:nvSpPr>
        <p:spPr>
          <a:xfrm>
            <a:off x="731520" y="4572000"/>
            <a:ext cx="3108960" cy="1554480"/>
          </a:xfrm>
          <a:prstGeom prst="rect">
            <a:avLst/>
          </a:prstGeom>
          <a:noFill/>
          <a:ln/>
        </p:spPr>
        <p:txBody>
          <a:bodyPr wrap="square" lIns="0" tIns="0" rIns="0" bIns="0" rtlCol="0" anchor="ctr"/>
          <a:lstStyle/>
          <a:p>
            <a:pPr indent="0" marL="0">
              <a:lnSpc>
                <a:spcPct val="135000"/>
              </a:lnSpc>
              <a:buNone/>
            </a:pPr>
            <a:r>
              <a:rPr lang="en-US" sz="1200" dirty="0">
                <a:solidFill>
                  <a:srgbClr val="334155"/>
                </a:solidFill>
                <a:latin typeface="Calibri" pitchFamily="34" charset="0"/>
                <a:ea typeface="Calibri" pitchFamily="34" charset="-122"/>
                <a:cs typeface="Calibri" pitchFamily="34" charset="-120"/>
              </a:rPr>
              <a:t>Hybrid pipeline reads native PDFs (check-boxes, signatures, side-by-side TDS / SPQ tables) and extracts long HOA bundles. Every finding tagged with confidence so the agent and buyer know what's direct and what's inferred.</a:t>
            </a:r>
            <a:endParaRPr lang="en-US" sz="1200" dirty="0"/>
          </a:p>
        </p:txBody>
      </p:sp>
      <p:sp>
        <p:nvSpPr>
          <p:cNvPr id="12" name="Shape 10"/>
          <p:cNvSpPr/>
          <p:nvPr/>
        </p:nvSpPr>
        <p:spPr>
          <a:xfrm>
            <a:off x="4343400" y="2834640"/>
            <a:ext cx="3657600" cy="3383280"/>
          </a:xfrm>
          <a:prstGeom prst="rect">
            <a:avLst/>
          </a:prstGeom>
          <a:solidFill>
            <a:srgbClr val="FAF8F2"/>
          </a:solidFill>
          <a:ln/>
        </p:spPr>
      </p:sp>
      <p:sp>
        <p:nvSpPr>
          <p:cNvPr id="13" name="Shape 11"/>
          <p:cNvSpPr/>
          <p:nvPr/>
        </p:nvSpPr>
        <p:spPr>
          <a:xfrm>
            <a:off x="4343400" y="2834640"/>
            <a:ext cx="3657600" cy="109728"/>
          </a:xfrm>
          <a:prstGeom prst="rect">
            <a:avLst/>
          </a:prstGeom>
          <a:solidFill>
            <a:srgbClr val="3FB8AF"/>
          </a:solidFill>
          <a:ln/>
        </p:spPr>
      </p:sp>
      <p:sp>
        <p:nvSpPr>
          <p:cNvPr id="14" name="Shape 12"/>
          <p:cNvSpPr/>
          <p:nvPr/>
        </p:nvSpPr>
        <p:spPr>
          <a:xfrm>
            <a:off x="4617720" y="3154680"/>
            <a:ext cx="502920" cy="502920"/>
          </a:xfrm>
          <a:prstGeom prst="ellipse">
            <a:avLst/>
          </a:prstGeom>
          <a:solidFill>
            <a:srgbClr val="E85D75"/>
          </a:solidFill>
          <a:ln/>
        </p:spPr>
      </p:sp>
      <p:sp>
        <p:nvSpPr>
          <p:cNvPr id="15" name="Text 13"/>
          <p:cNvSpPr/>
          <p:nvPr/>
        </p:nvSpPr>
        <p:spPr>
          <a:xfrm>
            <a:off x="4617720" y="31546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Text 14"/>
          <p:cNvSpPr/>
          <p:nvPr/>
        </p:nvSpPr>
        <p:spPr>
          <a:xfrm>
            <a:off x="4617720" y="3749040"/>
            <a:ext cx="3108960" cy="731520"/>
          </a:xfrm>
          <a:prstGeom prst="rect">
            <a:avLst/>
          </a:prstGeom>
          <a:noFill/>
          <a:ln/>
        </p:spPr>
        <p:txBody>
          <a:bodyPr wrap="square" lIns="0" tIns="0" rIns="0" bIns="0" rtlCol="0" anchor="ctr"/>
          <a:lstStyle/>
          <a:p>
            <a:pPr indent="0" marL="0">
              <a:lnSpc>
                <a:spcPct val="120000"/>
              </a:lnSpc>
              <a:buNone/>
            </a:pPr>
            <a:r>
              <a:rPr lang="en-US" sz="1700" b="1" dirty="0">
                <a:solidFill>
                  <a:srgbClr val="0F172A"/>
                </a:solidFill>
                <a:latin typeface="Calibri" pitchFamily="34" charset="0"/>
                <a:ea typeface="Calibri" pitchFamily="34" charset="-122"/>
                <a:cs typeface="Calibri" pitchFamily="34" charset="-120"/>
              </a:rPr>
              <a:t>Numbers grounded in your market</a:t>
            </a:r>
            <a:endParaRPr lang="en-US" sz="1700" dirty="0"/>
          </a:p>
        </p:txBody>
      </p:sp>
      <p:sp>
        <p:nvSpPr>
          <p:cNvPr id="17" name="Text 15"/>
          <p:cNvSpPr/>
          <p:nvPr/>
        </p:nvSpPr>
        <p:spPr>
          <a:xfrm>
            <a:off x="4617720" y="4572000"/>
            <a:ext cx="3108960" cy="1554480"/>
          </a:xfrm>
          <a:prstGeom prst="rect">
            <a:avLst/>
          </a:prstGeom>
          <a:noFill/>
          <a:ln/>
        </p:spPr>
        <p:txBody>
          <a:bodyPr wrap="square" lIns="0" tIns="0" rIns="0" bIns="0" rtlCol="0" anchor="ctr"/>
          <a:lstStyle/>
          <a:p>
            <a:pPr indent="0" marL="0">
              <a:lnSpc>
                <a:spcPct val="135000"/>
              </a:lnSpc>
              <a:buNone/>
            </a:pPr>
            <a:r>
              <a:rPr lang="en-US" sz="1200" dirty="0">
                <a:solidFill>
                  <a:srgbClr val="334155"/>
                </a:solidFill>
                <a:latin typeface="Calibri" pitchFamily="34" charset="0"/>
                <a:ea typeface="Calibri" pitchFamily="34" charset="-122"/>
                <a:cs typeface="Calibri" pitchFamily="34" charset="-120"/>
              </a:rPr>
              <a:t>Regional cost reference library calibrated to nine California markets, refreshed biweekly. Foundation work in Oakland is not the same number as foundation work in Carmel and the report knows the difference.</a:t>
            </a:r>
            <a:endParaRPr lang="en-US" sz="1200" dirty="0"/>
          </a:p>
        </p:txBody>
      </p:sp>
      <p:sp>
        <p:nvSpPr>
          <p:cNvPr id="18" name="Shape 16"/>
          <p:cNvSpPr/>
          <p:nvPr/>
        </p:nvSpPr>
        <p:spPr>
          <a:xfrm>
            <a:off x="8229600" y="2834640"/>
            <a:ext cx="3657600" cy="3383280"/>
          </a:xfrm>
          <a:prstGeom prst="rect">
            <a:avLst/>
          </a:prstGeom>
          <a:solidFill>
            <a:srgbClr val="FAF8F2"/>
          </a:solidFill>
          <a:ln/>
        </p:spPr>
      </p:sp>
      <p:sp>
        <p:nvSpPr>
          <p:cNvPr id="19" name="Shape 17"/>
          <p:cNvSpPr/>
          <p:nvPr/>
        </p:nvSpPr>
        <p:spPr>
          <a:xfrm>
            <a:off x="8229600" y="2834640"/>
            <a:ext cx="3657600" cy="109728"/>
          </a:xfrm>
          <a:prstGeom prst="rect">
            <a:avLst/>
          </a:prstGeom>
          <a:solidFill>
            <a:srgbClr val="3FB8AF"/>
          </a:solidFill>
          <a:ln/>
        </p:spPr>
      </p:sp>
      <p:sp>
        <p:nvSpPr>
          <p:cNvPr id="20" name="Shape 18"/>
          <p:cNvSpPr/>
          <p:nvPr/>
        </p:nvSpPr>
        <p:spPr>
          <a:xfrm>
            <a:off x="8503920" y="3154680"/>
            <a:ext cx="502920" cy="502920"/>
          </a:xfrm>
          <a:prstGeom prst="ellipse">
            <a:avLst/>
          </a:prstGeom>
          <a:solidFill>
            <a:srgbClr val="E85D75"/>
          </a:solidFill>
          <a:ln/>
        </p:spPr>
      </p:sp>
      <p:sp>
        <p:nvSpPr>
          <p:cNvPr id="21" name="Text 19"/>
          <p:cNvSpPr/>
          <p:nvPr/>
        </p:nvSpPr>
        <p:spPr>
          <a:xfrm>
            <a:off x="8503920" y="31546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20"/>
          <p:cNvSpPr/>
          <p:nvPr/>
        </p:nvSpPr>
        <p:spPr>
          <a:xfrm>
            <a:off x="8503920" y="3749040"/>
            <a:ext cx="3108960" cy="731520"/>
          </a:xfrm>
          <a:prstGeom prst="rect">
            <a:avLst/>
          </a:prstGeom>
          <a:noFill/>
          <a:ln/>
        </p:spPr>
        <p:txBody>
          <a:bodyPr wrap="square" lIns="0" tIns="0" rIns="0" bIns="0" rtlCol="0" anchor="ctr"/>
          <a:lstStyle/>
          <a:p>
            <a:pPr indent="0" marL="0">
              <a:lnSpc>
                <a:spcPct val="120000"/>
              </a:lnSpc>
              <a:buNone/>
            </a:pPr>
            <a:r>
              <a:rPr lang="en-US" sz="1700" b="1" dirty="0">
                <a:solidFill>
                  <a:srgbClr val="0F172A"/>
                </a:solidFill>
                <a:latin typeface="Calibri" pitchFamily="34" charset="0"/>
                <a:ea typeface="Calibri" pitchFamily="34" charset="-122"/>
                <a:cs typeface="Calibri" pitchFamily="34" charset="-120"/>
              </a:rPr>
              <a:t>Ships as your brand, not ours</a:t>
            </a:r>
            <a:endParaRPr lang="en-US" sz="1700" dirty="0"/>
          </a:p>
        </p:txBody>
      </p:sp>
      <p:sp>
        <p:nvSpPr>
          <p:cNvPr id="23" name="Text 21"/>
          <p:cNvSpPr/>
          <p:nvPr/>
        </p:nvSpPr>
        <p:spPr>
          <a:xfrm>
            <a:off x="8503920" y="4572000"/>
            <a:ext cx="3108960" cy="1554480"/>
          </a:xfrm>
          <a:prstGeom prst="rect">
            <a:avLst/>
          </a:prstGeom>
          <a:noFill/>
          <a:ln/>
        </p:spPr>
        <p:txBody>
          <a:bodyPr wrap="square" lIns="0" tIns="0" rIns="0" bIns="0" rtlCol="0" anchor="ctr"/>
          <a:lstStyle/>
          <a:p>
            <a:pPr indent="0" marL="0">
              <a:lnSpc>
                <a:spcPct val="135000"/>
              </a:lnSpc>
              <a:buNone/>
            </a:pPr>
            <a:r>
              <a:rPr lang="en-US" sz="1200" dirty="0">
                <a:solidFill>
                  <a:srgbClr val="334155"/>
                </a:solidFill>
                <a:latin typeface="Calibri" pitchFamily="34" charset="0"/>
                <a:ea typeface="Calibri" pitchFamily="34" charset="-122"/>
                <a:cs typeface="Calibri" pitchFamily="34" charset="-120"/>
              </a:rPr>
              <a:t>PDF cover, running headers, share-link page, and client email all carry your brokerage colors, logo, agent headshot, agent DRE, and brokerage DRE. We power the analysis. The deliverable is yours.</a:t>
            </a:r>
            <a:endParaRPr lang="en-US" sz="1200" dirty="0"/>
          </a:p>
        </p:txBody>
      </p:sp>
      <p:sp>
        <p:nvSpPr>
          <p:cNvPr id="24" name="Text 22"/>
          <p:cNvSpPr/>
          <p:nvPr/>
        </p:nvSpPr>
        <p:spPr>
          <a:xfrm>
            <a:off x="10728655" y="6446520"/>
            <a:ext cx="1280160" cy="274320"/>
          </a:xfrm>
          <a:prstGeom prst="rect">
            <a:avLst/>
          </a:prstGeom>
          <a:noFill/>
          <a:ln/>
        </p:spPr>
        <p:txBody>
          <a:bodyPr wrap="square" lIns="0" tIns="0" rIns="0" bIns="0" rtlCol="0" anchor="ctr"/>
          <a:lstStyle/>
          <a:p>
            <a:pPr algn="r" indent="0" marL="0">
              <a:buNone/>
            </a:pPr>
            <a:r>
              <a:rPr lang="en-US" sz="1200" b="1" dirty="0">
                <a:solidFill>
                  <a:srgbClr val="E85D75"/>
                </a:solidFill>
                <a:latin typeface="Calibri" pitchFamily="34" charset="0"/>
                <a:ea typeface="Calibri" pitchFamily="34" charset="-122"/>
                <a:cs typeface="Calibri" pitchFamily="34" charset="-120"/>
              </a:rPr>
              <a:t>veroax</a:t>
            </a:r>
            <a:pPr algn="r" indent="0" marL="0">
              <a:buNone/>
            </a:pPr>
            <a:r>
              <a:rPr lang="en-US" sz="1200" b="1" dirty="0">
                <a:solidFill>
                  <a:srgbClr val="3FB8AF"/>
                </a:solidFill>
                <a:latin typeface="Calibri" pitchFamily="34" charset="0"/>
                <a:ea typeface="Calibri" pitchFamily="34" charset="-122"/>
                <a:cs typeface="Calibri" pitchFamily="34" charset="-120"/>
              </a:rPr>
              <a:t> • </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 cy="228600"/>
          </a:xfrm>
          <a:prstGeom prst="rect">
            <a:avLst/>
          </a:prstGeom>
          <a:noFill/>
          <a:ln/>
        </p:spPr>
        <p:txBody>
          <a:bodyPr wrap="square" lIns="0" tIns="0" rIns="0" bIns="0"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05 / 12</a:t>
            </a:r>
            <a:endParaRPr lang="en-US" sz="900" dirty="0"/>
          </a:p>
        </p:txBody>
      </p:sp>
      <p:sp>
        <p:nvSpPr>
          <p:cNvPr id="3" name="Text 1"/>
          <p:cNvSpPr/>
          <p:nvPr/>
        </p:nvSpPr>
        <p:spPr>
          <a:xfrm>
            <a:off x="457200" y="777240"/>
            <a:ext cx="10972800" cy="320040"/>
          </a:xfrm>
          <a:prstGeom prst="rect">
            <a:avLst/>
          </a:prstGeom>
          <a:noFill/>
          <a:ln/>
        </p:spPr>
        <p:txBody>
          <a:bodyPr wrap="square" lIns="0" tIns="0" rIns="0" bIns="0" rtlCol="0" anchor="ctr"/>
          <a:lstStyle/>
          <a:p>
            <a:pPr indent="0" marL="0">
              <a:buNone/>
            </a:pPr>
            <a:r>
              <a:rPr lang="en-US" sz="1100" b="1" spc="500" kern="0" dirty="0">
                <a:solidFill>
                  <a:srgbClr val="E85D75"/>
                </a:solidFill>
                <a:latin typeface="Calibri" pitchFamily="34" charset="0"/>
                <a:ea typeface="Calibri" pitchFamily="34" charset="-122"/>
                <a:cs typeface="Calibri" pitchFamily="34" charset="-120"/>
              </a:rPr>
              <a:t>Inside the report</a:t>
            </a:r>
            <a:endParaRPr lang="en-US" sz="1100" dirty="0"/>
          </a:p>
        </p:txBody>
      </p:sp>
      <p:sp>
        <p:nvSpPr>
          <p:cNvPr id="4" name="Text 2"/>
          <p:cNvSpPr/>
          <p:nvPr/>
        </p:nvSpPr>
        <p:spPr>
          <a:xfrm>
            <a:off x="457200" y="1143000"/>
            <a:ext cx="11247120" cy="914400"/>
          </a:xfrm>
          <a:prstGeom prst="rect">
            <a:avLst/>
          </a:prstGeom>
          <a:noFill/>
          <a:ln/>
        </p:spPr>
        <p:txBody>
          <a:bodyPr wrap="square" lIns="0" tIns="0" rIns="0" bIns="0" rtlCol="0" anchor="ctr"/>
          <a:lstStyle/>
          <a:p>
            <a:pPr indent="0" marL="0">
              <a:lnSpc>
                <a:spcPct val="110000"/>
              </a:lnSpc>
              <a:buNone/>
            </a:pPr>
            <a:r>
              <a:rPr lang="en-US" sz="3200" b="1" dirty="0">
                <a:solidFill>
                  <a:srgbClr val="0F172A"/>
                </a:solidFill>
                <a:latin typeface="Calibri" pitchFamily="34" charset="0"/>
                <a:ea typeface="Calibri" pitchFamily="34" charset="-122"/>
                <a:cs typeface="Calibri" pitchFamily="34" charset="-120"/>
              </a:rPr>
              <a:t>14 sections, every one defensible.</a:t>
            </a:r>
            <a:endParaRPr lang="en-US" sz="3200" dirty="0"/>
          </a:p>
        </p:txBody>
      </p:sp>
      <p:sp>
        <p:nvSpPr>
          <p:cNvPr id="5" name="Text 3"/>
          <p:cNvSpPr/>
          <p:nvPr/>
        </p:nvSpPr>
        <p:spPr>
          <a:xfrm>
            <a:off x="457200" y="2103120"/>
            <a:ext cx="11247120" cy="45720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What your client actually sees. Every page is structured. Every finding is sourced.</a:t>
            </a:r>
            <a:endParaRPr lang="en-US" sz="1500" dirty="0"/>
          </a:p>
        </p:txBody>
      </p:sp>
      <p:sp>
        <p:nvSpPr>
          <p:cNvPr id="6" name="Shape 4"/>
          <p:cNvSpPr/>
          <p:nvPr/>
        </p:nvSpPr>
        <p:spPr>
          <a:xfrm>
            <a:off x="457200" y="2743200"/>
            <a:ext cx="5486400" cy="384048"/>
          </a:xfrm>
          <a:prstGeom prst="rect">
            <a:avLst/>
          </a:prstGeom>
          <a:solidFill>
            <a:srgbClr val="FAF8F2"/>
          </a:solidFill>
          <a:ln/>
        </p:spPr>
      </p:sp>
      <p:sp>
        <p:nvSpPr>
          <p:cNvPr id="7" name="Text 5"/>
          <p:cNvSpPr/>
          <p:nvPr/>
        </p:nvSpPr>
        <p:spPr>
          <a:xfrm>
            <a:off x="594360" y="2779776"/>
            <a:ext cx="548640" cy="320040"/>
          </a:xfrm>
          <a:prstGeom prst="rect">
            <a:avLst/>
          </a:prstGeom>
          <a:noFill/>
          <a:ln/>
        </p:spPr>
        <p:txBody>
          <a:bodyPr wrap="square" lIns="0" tIns="0" rIns="0" bIns="0" rtlCol="0" anchor="ctr"/>
          <a:lstStyle/>
          <a:p>
            <a:pPr indent="0" marL="0">
              <a:buNone/>
            </a:pPr>
            <a:r>
              <a:rPr lang="en-US" sz="1100" b="1" dirty="0">
                <a:solidFill>
                  <a:srgbClr val="E85D75"/>
                </a:solidFill>
                <a:latin typeface="Calibri" pitchFamily="34" charset="0"/>
                <a:ea typeface="Calibri" pitchFamily="34" charset="-122"/>
                <a:cs typeface="Calibri" pitchFamily="34" charset="-120"/>
              </a:rPr>
              <a:t>01</a:t>
            </a:r>
            <a:endParaRPr lang="en-US" sz="1100" dirty="0"/>
          </a:p>
        </p:txBody>
      </p:sp>
      <p:sp>
        <p:nvSpPr>
          <p:cNvPr id="8" name="Text 6"/>
          <p:cNvSpPr/>
          <p:nvPr/>
        </p:nvSpPr>
        <p:spPr>
          <a:xfrm>
            <a:off x="1143000" y="2779776"/>
            <a:ext cx="475488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Property snapshot</a:t>
            </a:r>
            <a:endParaRPr lang="en-US" sz="1300" dirty="0"/>
          </a:p>
        </p:txBody>
      </p:sp>
      <p:sp>
        <p:nvSpPr>
          <p:cNvPr id="9" name="Shape 7"/>
          <p:cNvSpPr/>
          <p:nvPr/>
        </p:nvSpPr>
        <p:spPr>
          <a:xfrm>
            <a:off x="6217920" y="2743200"/>
            <a:ext cx="5486400" cy="384048"/>
          </a:xfrm>
          <a:prstGeom prst="rect">
            <a:avLst/>
          </a:prstGeom>
          <a:solidFill>
            <a:srgbClr val="F1F5F9"/>
          </a:solidFill>
          <a:ln/>
        </p:spPr>
      </p:sp>
      <p:sp>
        <p:nvSpPr>
          <p:cNvPr id="10" name="Text 8"/>
          <p:cNvSpPr/>
          <p:nvPr/>
        </p:nvSpPr>
        <p:spPr>
          <a:xfrm>
            <a:off x="6355080" y="2779776"/>
            <a:ext cx="548640" cy="320040"/>
          </a:xfrm>
          <a:prstGeom prst="rect">
            <a:avLst/>
          </a:prstGeom>
          <a:noFill/>
          <a:ln/>
        </p:spPr>
        <p:txBody>
          <a:bodyPr wrap="square" lIns="0" tIns="0" rIns="0" bIns="0" rtlCol="0" anchor="ctr"/>
          <a:lstStyle/>
          <a:p>
            <a:pPr indent="0" marL="0">
              <a:buNone/>
            </a:pPr>
            <a:r>
              <a:rPr lang="en-US" sz="1100" b="1" dirty="0">
                <a:solidFill>
                  <a:srgbClr val="E85D75"/>
                </a:solidFill>
                <a:latin typeface="Calibri" pitchFamily="34" charset="0"/>
                <a:ea typeface="Calibri" pitchFamily="34" charset="-122"/>
                <a:cs typeface="Calibri" pitchFamily="34" charset="-120"/>
              </a:rPr>
              <a:t>02</a:t>
            </a:r>
            <a:endParaRPr lang="en-US" sz="1100" dirty="0"/>
          </a:p>
        </p:txBody>
      </p:sp>
      <p:sp>
        <p:nvSpPr>
          <p:cNvPr id="11" name="Text 9"/>
          <p:cNvSpPr/>
          <p:nvPr/>
        </p:nvSpPr>
        <p:spPr>
          <a:xfrm>
            <a:off x="6903720" y="2779776"/>
            <a:ext cx="475488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Executive narrative</a:t>
            </a:r>
            <a:endParaRPr lang="en-US" sz="1300" dirty="0"/>
          </a:p>
        </p:txBody>
      </p:sp>
      <p:sp>
        <p:nvSpPr>
          <p:cNvPr id="12" name="Shape 10"/>
          <p:cNvSpPr/>
          <p:nvPr/>
        </p:nvSpPr>
        <p:spPr>
          <a:xfrm>
            <a:off x="457200" y="3218688"/>
            <a:ext cx="5486400" cy="384048"/>
          </a:xfrm>
          <a:prstGeom prst="rect">
            <a:avLst/>
          </a:prstGeom>
          <a:solidFill>
            <a:srgbClr val="FAF8F2"/>
          </a:solidFill>
          <a:ln/>
        </p:spPr>
      </p:sp>
      <p:sp>
        <p:nvSpPr>
          <p:cNvPr id="13" name="Text 11"/>
          <p:cNvSpPr/>
          <p:nvPr/>
        </p:nvSpPr>
        <p:spPr>
          <a:xfrm>
            <a:off x="594360" y="3255264"/>
            <a:ext cx="548640" cy="320040"/>
          </a:xfrm>
          <a:prstGeom prst="rect">
            <a:avLst/>
          </a:prstGeom>
          <a:noFill/>
          <a:ln/>
        </p:spPr>
        <p:txBody>
          <a:bodyPr wrap="square" lIns="0" tIns="0" rIns="0" bIns="0" rtlCol="0" anchor="ctr"/>
          <a:lstStyle/>
          <a:p>
            <a:pPr indent="0" marL="0">
              <a:buNone/>
            </a:pPr>
            <a:r>
              <a:rPr lang="en-US" sz="1100" b="1" dirty="0">
                <a:solidFill>
                  <a:srgbClr val="E85D75"/>
                </a:solidFill>
                <a:latin typeface="Calibri" pitchFamily="34" charset="0"/>
                <a:ea typeface="Calibri" pitchFamily="34" charset="-122"/>
                <a:cs typeface="Calibri" pitchFamily="34" charset="-120"/>
              </a:rPr>
              <a:t>03</a:t>
            </a:r>
            <a:endParaRPr lang="en-US" sz="1100" dirty="0"/>
          </a:p>
        </p:txBody>
      </p:sp>
      <p:sp>
        <p:nvSpPr>
          <p:cNvPr id="14" name="Text 12"/>
          <p:cNvSpPr/>
          <p:nvPr/>
        </p:nvSpPr>
        <p:spPr>
          <a:xfrm>
            <a:off x="1143000" y="3255264"/>
            <a:ext cx="475488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Strengths summary</a:t>
            </a:r>
            <a:endParaRPr lang="en-US" sz="1300" dirty="0"/>
          </a:p>
        </p:txBody>
      </p:sp>
      <p:sp>
        <p:nvSpPr>
          <p:cNvPr id="15" name="Shape 13"/>
          <p:cNvSpPr/>
          <p:nvPr/>
        </p:nvSpPr>
        <p:spPr>
          <a:xfrm>
            <a:off x="6217920" y="3218688"/>
            <a:ext cx="5486400" cy="384048"/>
          </a:xfrm>
          <a:prstGeom prst="rect">
            <a:avLst/>
          </a:prstGeom>
          <a:solidFill>
            <a:srgbClr val="F1F5F9"/>
          </a:solidFill>
          <a:ln/>
        </p:spPr>
      </p:sp>
      <p:sp>
        <p:nvSpPr>
          <p:cNvPr id="16" name="Text 14"/>
          <p:cNvSpPr/>
          <p:nvPr/>
        </p:nvSpPr>
        <p:spPr>
          <a:xfrm>
            <a:off x="6355080" y="3255264"/>
            <a:ext cx="548640" cy="320040"/>
          </a:xfrm>
          <a:prstGeom prst="rect">
            <a:avLst/>
          </a:prstGeom>
          <a:noFill/>
          <a:ln/>
        </p:spPr>
        <p:txBody>
          <a:bodyPr wrap="square" lIns="0" tIns="0" rIns="0" bIns="0" rtlCol="0" anchor="ctr"/>
          <a:lstStyle/>
          <a:p>
            <a:pPr indent="0" marL="0">
              <a:buNone/>
            </a:pPr>
            <a:r>
              <a:rPr lang="en-US" sz="1100" b="1" dirty="0">
                <a:solidFill>
                  <a:srgbClr val="E85D75"/>
                </a:solidFill>
                <a:latin typeface="Calibri" pitchFamily="34" charset="0"/>
                <a:ea typeface="Calibri" pitchFamily="34" charset="-122"/>
                <a:cs typeface="Calibri" pitchFamily="34" charset="-120"/>
              </a:rPr>
              <a:t>04</a:t>
            </a:r>
            <a:endParaRPr lang="en-US" sz="1100" dirty="0"/>
          </a:p>
        </p:txBody>
      </p:sp>
      <p:sp>
        <p:nvSpPr>
          <p:cNvPr id="17" name="Text 15"/>
          <p:cNvSpPr/>
          <p:nvPr/>
        </p:nvSpPr>
        <p:spPr>
          <a:xfrm>
            <a:off x="6903720" y="3255264"/>
            <a:ext cx="475488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Critical + High findings</a:t>
            </a:r>
            <a:endParaRPr lang="en-US" sz="1300" dirty="0"/>
          </a:p>
        </p:txBody>
      </p:sp>
      <p:sp>
        <p:nvSpPr>
          <p:cNvPr id="18" name="Shape 16"/>
          <p:cNvSpPr/>
          <p:nvPr/>
        </p:nvSpPr>
        <p:spPr>
          <a:xfrm>
            <a:off x="457200" y="3694176"/>
            <a:ext cx="5486400" cy="384048"/>
          </a:xfrm>
          <a:prstGeom prst="rect">
            <a:avLst/>
          </a:prstGeom>
          <a:solidFill>
            <a:srgbClr val="FAF8F2"/>
          </a:solidFill>
          <a:ln/>
        </p:spPr>
      </p:sp>
      <p:sp>
        <p:nvSpPr>
          <p:cNvPr id="19" name="Text 17"/>
          <p:cNvSpPr/>
          <p:nvPr/>
        </p:nvSpPr>
        <p:spPr>
          <a:xfrm>
            <a:off x="594360" y="3730752"/>
            <a:ext cx="548640" cy="320040"/>
          </a:xfrm>
          <a:prstGeom prst="rect">
            <a:avLst/>
          </a:prstGeom>
          <a:noFill/>
          <a:ln/>
        </p:spPr>
        <p:txBody>
          <a:bodyPr wrap="square" lIns="0" tIns="0" rIns="0" bIns="0" rtlCol="0" anchor="ctr"/>
          <a:lstStyle/>
          <a:p>
            <a:pPr indent="0" marL="0">
              <a:buNone/>
            </a:pPr>
            <a:r>
              <a:rPr lang="en-US" sz="1100" b="1" dirty="0">
                <a:solidFill>
                  <a:srgbClr val="E85D75"/>
                </a:solidFill>
                <a:latin typeface="Calibri" pitchFamily="34" charset="0"/>
                <a:ea typeface="Calibri" pitchFamily="34" charset="-122"/>
                <a:cs typeface="Calibri" pitchFamily="34" charset="-120"/>
              </a:rPr>
              <a:t>05</a:t>
            </a:r>
            <a:endParaRPr lang="en-US" sz="1100" dirty="0"/>
          </a:p>
        </p:txBody>
      </p:sp>
      <p:sp>
        <p:nvSpPr>
          <p:cNvPr id="20" name="Text 18"/>
          <p:cNvSpPr/>
          <p:nvPr/>
        </p:nvSpPr>
        <p:spPr>
          <a:xfrm>
            <a:off x="1143000" y="3730752"/>
            <a:ext cx="475488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Moderate findings</a:t>
            </a:r>
            <a:endParaRPr lang="en-US" sz="1300" dirty="0"/>
          </a:p>
        </p:txBody>
      </p:sp>
      <p:sp>
        <p:nvSpPr>
          <p:cNvPr id="21" name="Shape 19"/>
          <p:cNvSpPr/>
          <p:nvPr/>
        </p:nvSpPr>
        <p:spPr>
          <a:xfrm>
            <a:off x="6217920" y="3694176"/>
            <a:ext cx="5486400" cy="384048"/>
          </a:xfrm>
          <a:prstGeom prst="rect">
            <a:avLst/>
          </a:prstGeom>
          <a:solidFill>
            <a:srgbClr val="F1F5F9"/>
          </a:solidFill>
          <a:ln/>
        </p:spPr>
      </p:sp>
      <p:sp>
        <p:nvSpPr>
          <p:cNvPr id="22" name="Text 20"/>
          <p:cNvSpPr/>
          <p:nvPr/>
        </p:nvSpPr>
        <p:spPr>
          <a:xfrm>
            <a:off x="6355080" y="3730752"/>
            <a:ext cx="548640" cy="320040"/>
          </a:xfrm>
          <a:prstGeom prst="rect">
            <a:avLst/>
          </a:prstGeom>
          <a:noFill/>
          <a:ln/>
        </p:spPr>
        <p:txBody>
          <a:bodyPr wrap="square" lIns="0" tIns="0" rIns="0" bIns="0" rtlCol="0" anchor="ctr"/>
          <a:lstStyle/>
          <a:p>
            <a:pPr indent="0" marL="0">
              <a:buNone/>
            </a:pPr>
            <a:r>
              <a:rPr lang="en-US" sz="1100" b="1" dirty="0">
                <a:solidFill>
                  <a:srgbClr val="E85D75"/>
                </a:solidFill>
                <a:latin typeface="Calibri" pitchFamily="34" charset="0"/>
                <a:ea typeface="Calibri" pitchFamily="34" charset="-122"/>
                <a:cs typeface="Calibri" pitchFamily="34" charset="-120"/>
              </a:rPr>
              <a:t>06</a:t>
            </a:r>
            <a:endParaRPr lang="en-US" sz="1100" dirty="0"/>
          </a:p>
        </p:txBody>
      </p:sp>
      <p:sp>
        <p:nvSpPr>
          <p:cNvPr id="23" name="Text 21"/>
          <p:cNvSpPr/>
          <p:nvPr/>
        </p:nvSpPr>
        <p:spPr>
          <a:xfrm>
            <a:off x="6903720" y="3730752"/>
            <a:ext cx="475488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Cosmetic notes</a:t>
            </a:r>
            <a:endParaRPr lang="en-US" sz="1300" dirty="0"/>
          </a:p>
        </p:txBody>
      </p:sp>
      <p:sp>
        <p:nvSpPr>
          <p:cNvPr id="24" name="Shape 22"/>
          <p:cNvSpPr/>
          <p:nvPr/>
        </p:nvSpPr>
        <p:spPr>
          <a:xfrm>
            <a:off x="457200" y="4169664"/>
            <a:ext cx="5486400" cy="384048"/>
          </a:xfrm>
          <a:prstGeom prst="rect">
            <a:avLst/>
          </a:prstGeom>
          <a:solidFill>
            <a:srgbClr val="FAF8F2"/>
          </a:solidFill>
          <a:ln/>
        </p:spPr>
      </p:sp>
      <p:sp>
        <p:nvSpPr>
          <p:cNvPr id="25" name="Text 23"/>
          <p:cNvSpPr/>
          <p:nvPr/>
        </p:nvSpPr>
        <p:spPr>
          <a:xfrm>
            <a:off x="594360" y="4206240"/>
            <a:ext cx="548640" cy="320040"/>
          </a:xfrm>
          <a:prstGeom prst="rect">
            <a:avLst/>
          </a:prstGeom>
          <a:noFill/>
          <a:ln/>
        </p:spPr>
        <p:txBody>
          <a:bodyPr wrap="square" lIns="0" tIns="0" rIns="0" bIns="0" rtlCol="0" anchor="ctr"/>
          <a:lstStyle/>
          <a:p>
            <a:pPr indent="0" marL="0">
              <a:buNone/>
            </a:pPr>
            <a:r>
              <a:rPr lang="en-US" sz="1100" b="1" dirty="0">
                <a:solidFill>
                  <a:srgbClr val="E85D75"/>
                </a:solidFill>
                <a:latin typeface="Calibri" pitchFamily="34" charset="0"/>
                <a:ea typeface="Calibri" pitchFamily="34" charset="-122"/>
                <a:cs typeface="Calibri" pitchFamily="34" charset="-120"/>
              </a:rPr>
              <a:t>07</a:t>
            </a:r>
            <a:endParaRPr lang="en-US" sz="1100" dirty="0"/>
          </a:p>
        </p:txBody>
      </p:sp>
      <p:sp>
        <p:nvSpPr>
          <p:cNvPr id="26" name="Text 24"/>
          <p:cNvSpPr/>
          <p:nvPr/>
        </p:nvSpPr>
        <p:spPr>
          <a:xfrm>
            <a:off x="1143000" y="4206240"/>
            <a:ext cx="475488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Title + vesting review</a:t>
            </a:r>
            <a:endParaRPr lang="en-US" sz="1300" dirty="0"/>
          </a:p>
        </p:txBody>
      </p:sp>
      <p:sp>
        <p:nvSpPr>
          <p:cNvPr id="27" name="Shape 25"/>
          <p:cNvSpPr/>
          <p:nvPr/>
        </p:nvSpPr>
        <p:spPr>
          <a:xfrm>
            <a:off x="6217920" y="4169664"/>
            <a:ext cx="5486400" cy="384048"/>
          </a:xfrm>
          <a:prstGeom prst="rect">
            <a:avLst/>
          </a:prstGeom>
          <a:solidFill>
            <a:srgbClr val="F1F5F9"/>
          </a:solidFill>
          <a:ln/>
        </p:spPr>
      </p:sp>
      <p:sp>
        <p:nvSpPr>
          <p:cNvPr id="28" name="Text 26"/>
          <p:cNvSpPr/>
          <p:nvPr/>
        </p:nvSpPr>
        <p:spPr>
          <a:xfrm>
            <a:off x="6355080" y="4206240"/>
            <a:ext cx="548640" cy="320040"/>
          </a:xfrm>
          <a:prstGeom prst="rect">
            <a:avLst/>
          </a:prstGeom>
          <a:noFill/>
          <a:ln/>
        </p:spPr>
        <p:txBody>
          <a:bodyPr wrap="square" lIns="0" tIns="0" rIns="0" bIns="0" rtlCol="0" anchor="ctr"/>
          <a:lstStyle/>
          <a:p>
            <a:pPr indent="0" marL="0">
              <a:buNone/>
            </a:pPr>
            <a:r>
              <a:rPr lang="en-US" sz="1100" b="1" dirty="0">
                <a:solidFill>
                  <a:srgbClr val="E85D75"/>
                </a:solidFill>
                <a:latin typeface="Calibri" pitchFamily="34" charset="0"/>
                <a:ea typeface="Calibri" pitchFamily="34" charset="-122"/>
                <a:cs typeface="Calibri" pitchFamily="34" charset="-120"/>
              </a:rPr>
              <a:t>08</a:t>
            </a:r>
            <a:endParaRPr lang="en-US" sz="1100" dirty="0"/>
          </a:p>
        </p:txBody>
      </p:sp>
      <p:sp>
        <p:nvSpPr>
          <p:cNvPr id="29" name="Text 27"/>
          <p:cNvSpPr/>
          <p:nvPr/>
        </p:nvSpPr>
        <p:spPr>
          <a:xfrm>
            <a:off x="6903720" y="4206240"/>
            <a:ext cx="475488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HOA review (when applicable)</a:t>
            </a:r>
            <a:endParaRPr lang="en-US" sz="1300" dirty="0"/>
          </a:p>
        </p:txBody>
      </p:sp>
      <p:sp>
        <p:nvSpPr>
          <p:cNvPr id="30" name="Shape 28"/>
          <p:cNvSpPr/>
          <p:nvPr/>
        </p:nvSpPr>
        <p:spPr>
          <a:xfrm>
            <a:off x="457200" y="4645152"/>
            <a:ext cx="5486400" cy="384048"/>
          </a:xfrm>
          <a:prstGeom prst="rect">
            <a:avLst/>
          </a:prstGeom>
          <a:solidFill>
            <a:srgbClr val="FAF8F2"/>
          </a:solidFill>
          <a:ln/>
        </p:spPr>
      </p:sp>
      <p:sp>
        <p:nvSpPr>
          <p:cNvPr id="31" name="Text 29"/>
          <p:cNvSpPr/>
          <p:nvPr/>
        </p:nvSpPr>
        <p:spPr>
          <a:xfrm>
            <a:off x="594360" y="4681728"/>
            <a:ext cx="548640" cy="320040"/>
          </a:xfrm>
          <a:prstGeom prst="rect">
            <a:avLst/>
          </a:prstGeom>
          <a:noFill/>
          <a:ln/>
        </p:spPr>
        <p:txBody>
          <a:bodyPr wrap="square" lIns="0" tIns="0" rIns="0" bIns="0" rtlCol="0" anchor="ctr"/>
          <a:lstStyle/>
          <a:p>
            <a:pPr indent="0" marL="0">
              <a:buNone/>
            </a:pPr>
            <a:r>
              <a:rPr lang="en-US" sz="1100" b="1" dirty="0">
                <a:solidFill>
                  <a:srgbClr val="E85D75"/>
                </a:solidFill>
                <a:latin typeface="Calibri" pitchFamily="34" charset="0"/>
                <a:ea typeface="Calibri" pitchFamily="34" charset="-122"/>
                <a:cs typeface="Calibri" pitchFamily="34" charset="-120"/>
              </a:rPr>
              <a:t>09</a:t>
            </a:r>
            <a:endParaRPr lang="en-US" sz="1100" dirty="0"/>
          </a:p>
        </p:txBody>
      </p:sp>
      <p:sp>
        <p:nvSpPr>
          <p:cNvPr id="32" name="Text 30"/>
          <p:cNvSpPr/>
          <p:nvPr/>
        </p:nvSpPr>
        <p:spPr>
          <a:xfrm>
            <a:off x="1143000" y="4681728"/>
            <a:ext cx="475488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Environmental hazards (NHD)</a:t>
            </a:r>
            <a:endParaRPr lang="en-US" sz="1300" dirty="0"/>
          </a:p>
        </p:txBody>
      </p:sp>
      <p:sp>
        <p:nvSpPr>
          <p:cNvPr id="33" name="Shape 31"/>
          <p:cNvSpPr/>
          <p:nvPr/>
        </p:nvSpPr>
        <p:spPr>
          <a:xfrm>
            <a:off x="6217920" y="4645152"/>
            <a:ext cx="5486400" cy="384048"/>
          </a:xfrm>
          <a:prstGeom prst="rect">
            <a:avLst/>
          </a:prstGeom>
          <a:solidFill>
            <a:srgbClr val="F1F5F9"/>
          </a:solidFill>
          <a:ln/>
        </p:spPr>
      </p:sp>
      <p:sp>
        <p:nvSpPr>
          <p:cNvPr id="34" name="Text 32"/>
          <p:cNvSpPr/>
          <p:nvPr/>
        </p:nvSpPr>
        <p:spPr>
          <a:xfrm>
            <a:off x="6355080" y="4681728"/>
            <a:ext cx="548640" cy="320040"/>
          </a:xfrm>
          <a:prstGeom prst="rect">
            <a:avLst/>
          </a:prstGeom>
          <a:noFill/>
          <a:ln/>
        </p:spPr>
        <p:txBody>
          <a:bodyPr wrap="square" lIns="0" tIns="0" rIns="0" bIns="0" rtlCol="0" anchor="ctr"/>
          <a:lstStyle/>
          <a:p>
            <a:pPr indent="0" marL="0">
              <a:buNone/>
            </a:pPr>
            <a:r>
              <a:rPr lang="en-US" sz="1100" b="1" dirty="0">
                <a:solidFill>
                  <a:srgbClr val="E85D75"/>
                </a:solidFill>
                <a:latin typeface="Calibri" pitchFamily="34" charset="0"/>
                <a:ea typeface="Calibri" pitchFamily="34" charset="-122"/>
                <a:cs typeface="Calibri" pitchFamily="34" charset="-120"/>
              </a:rPr>
              <a:t>10</a:t>
            </a:r>
            <a:endParaRPr lang="en-US" sz="1100" dirty="0"/>
          </a:p>
        </p:txBody>
      </p:sp>
      <p:sp>
        <p:nvSpPr>
          <p:cNvPr id="35" name="Text 33"/>
          <p:cNvSpPr/>
          <p:nvPr/>
        </p:nvSpPr>
        <p:spPr>
          <a:xfrm>
            <a:off x="6903720" y="4681728"/>
            <a:ext cx="475488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Inspection follow-ups</a:t>
            </a:r>
            <a:endParaRPr lang="en-US" sz="1300" dirty="0"/>
          </a:p>
        </p:txBody>
      </p:sp>
      <p:sp>
        <p:nvSpPr>
          <p:cNvPr id="36" name="Shape 34"/>
          <p:cNvSpPr/>
          <p:nvPr/>
        </p:nvSpPr>
        <p:spPr>
          <a:xfrm>
            <a:off x="457200" y="5120640"/>
            <a:ext cx="5486400" cy="384048"/>
          </a:xfrm>
          <a:prstGeom prst="rect">
            <a:avLst/>
          </a:prstGeom>
          <a:solidFill>
            <a:srgbClr val="FAF8F2"/>
          </a:solidFill>
          <a:ln/>
        </p:spPr>
      </p:sp>
      <p:sp>
        <p:nvSpPr>
          <p:cNvPr id="37" name="Text 35"/>
          <p:cNvSpPr/>
          <p:nvPr/>
        </p:nvSpPr>
        <p:spPr>
          <a:xfrm>
            <a:off x="594360" y="5157216"/>
            <a:ext cx="548640" cy="320040"/>
          </a:xfrm>
          <a:prstGeom prst="rect">
            <a:avLst/>
          </a:prstGeom>
          <a:noFill/>
          <a:ln/>
        </p:spPr>
        <p:txBody>
          <a:bodyPr wrap="square" lIns="0" tIns="0" rIns="0" bIns="0" rtlCol="0" anchor="ctr"/>
          <a:lstStyle/>
          <a:p>
            <a:pPr indent="0" marL="0">
              <a:buNone/>
            </a:pPr>
            <a:r>
              <a:rPr lang="en-US" sz="1100" b="1" dirty="0">
                <a:solidFill>
                  <a:srgbClr val="E85D75"/>
                </a:solidFill>
                <a:latin typeface="Calibri" pitchFamily="34" charset="0"/>
                <a:ea typeface="Calibri" pitchFamily="34" charset="-122"/>
                <a:cs typeface="Calibri" pitchFamily="34" charset="-120"/>
              </a:rPr>
              <a:t>11</a:t>
            </a:r>
            <a:endParaRPr lang="en-US" sz="1100" dirty="0"/>
          </a:p>
        </p:txBody>
      </p:sp>
      <p:sp>
        <p:nvSpPr>
          <p:cNvPr id="38" name="Text 36"/>
          <p:cNvSpPr/>
          <p:nvPr/>
        </p:nvSpPr>
        <p:spPr>
          <a:xfrm>
            <a:off x="1143000" y="5157216"/>
            <a:ext cx="475488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Repair cost summary</a:t>
            </a:r>
            <a:endParaRPr lang="en-US" sz="1300" dirty="0"/>
          </a:p>
        </p:txBody>
      </p:sp>
      <p:sp>
        <p:nvSpPr>
          <p:cNvPr id="39" name="Shape 37"/>
          <p:cNvSpPr/>
          <p:nvPr/>
        </p:nvSpPr>
        <p:spPr>
          <a:xfrm>
            <a:off x="6217920" y="5120640"/>
            <a:ext cx="5486400" cy="384048"/>
          </a:xfrm>
          <a:prstGeom prst="rect">
            <a:avLst/>
          </a:prstGeom>
          <a:solidFill>
            <a:srgbClr val="F1F5F9"/>
          </a:solidFill>
          <a:ln/>
        </p:spPr>
      </p:sp>
      <p:sp>
        <p:nvSpPr>
          <p:cNvPr id="40" name="Text 38"/>
          <p:cNvSpPr/>
          <p:nvPr/>
        </p:nvSpPr>
        <p:spPr>
          <a:xfrm>
            <a:off x="6355080" y="5157216"/>
            <a:ext cx="548640" cy="320040"/>
          </a:xfrm>
          <a:prstGeom prst="rect">
            <a:avLst/>
          </a:prstGeom>
          <a:noFill/>
          <a:ln/>
        </p:spPr>
        <p:txBody>
          <a:bodyPr wrap="square" lIns="0" tIns="0" rIns="0" bIns="0" rtlCol="0" anchor="ctr"/>
          <a:lstStyle/>
          <a:p>
            <a:pPr indent="0" marL="0">
              <a:buNone/>
            </a:pPr>
            <a:r>
              <a:rPr lang="en-US" sz="1100" b="1" dirty="0">
                <a:solidFill>
                  <a:srgbClr val="E85D75"/>
                </a:solidFill>
                <a:latin typeface="Calibri" pitchFamily="34" charset="0"/>
                <a:ea typeface="Calibri" pitchFamily="34" charset="-122"/>
                <a:cs typeface="Calibri" pitchFamily="34" charset="-120"/>
              </a:rPr>
              <a:t>12</a:t>
            </a:r>
            <a:endParaRPr lang="en-US" sz="1100" dirty="0"/>
          </a:p>
        </p:txBody>
      </p:sp>
      <p:sp>
        <p:nvSpPr>
          <p:cNvPr id="41" name="Text 39"/>
          <p:cNvSpPr/>
          <p:nvPr/>
        </p:nvSpPr>
        <p:spPr>
          <a:xfrm>
            <a:off x="6903720" y="5157216"/>
            <a:ext cx="475488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Market context</a:t>
            </a:r>
            <a:endParaRPr lang="en-US" sz="1300" dirty="0"/>
          </a:p>
        </p:txBody>
      </p:sp>
      <p:sp>
        <p:nvSpPr>
          <p:cNvPr id="42" name="Shape 40"/>
          <p:cNvSpPr/>
          <p:nvPr/>
        </p:nvSpPr>
        <p:spPr>
          <a:xfrm>
            <a:off x="457200" y="5596128"/>
            <a:ext cx="5486400" cy="384048"/>
          </a:xfrm>
          <a:prstGeom prst="rect">
            <a:avLst/>
          </a:prstGeom>
          <a:solidFill>
            <a:srgbClr val="FAF8F2"/>
          </a:solidFill>
          <a:ln/>
        </p:spPr>
      </p:sp>
      <p:sp>
        <p:nvSpPr>
          <p:cNvPr id="43" name="Text 41"/>
          <p:cNvSpPr/>
          <p:nvPr/>
        </p:nvSpPr>
        <p:spPr>
          <a:xfrm>
            <a:off x="594360" y="5632704"/>
            <a:ext cx="548640" cy="320040"/>
          </a:xfrm>
          <a:prstGeom prst="rect">
            <a:avLst/>
          </a:prstGeom>
          <a:noFill/>
          <a:ln/>
        </p:spPr>
        <p:txBody>
          <a:bodyPr wrap="square" lIns="0" tIns="0" rIns="0" bIns="0" rtlCol="0" anchor="ctr"/>
          <a:lstStyle/>
          <a:p>
            <a:pPr indent="0" marL="0">
              <a:buNone/>
            </a:pPr>
            <a:r>
              <a:rPr lang="en-US" sz="1100" b="1" dirty="0">
                <a:solidFill>
                  <a:srgbClr val="E85D75"/>
                </a:solidFill>
                <a:latin typeface="Calibri" pitchFamily="34" charset="0"/>
                <a:ea typeface="Calibri" pitchFamily="34" charset="-122"/>
                <a:cs typeface="Calibri" pitchFamily="34" charset="-120"/>
              </a:rPr>
              <a:t>13</a:t>
            </a:r>
            <a:endParaRPr lang="en-US" sz="1100" dirty="0"/>
          </a:p>
        </p:txBody>
      </p:sp>
      <p:sp>
        <p:nvSpPr>
          <p:cNvPr id="44" name="Text 42"/>
          <p:cNvSpPr/>
          <p:nvPr/>
        </p:nvSpPr>
        <p:spPr>
          <a:xfrm>
            <a:off x="1143000" y="5632704"/>
            <a:ext cx="475488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Negotiation leverage</a:t>
            </a:r>
            <a:endParaRPr lang="en-US" sz="1300" dirty="0"/>
          </a:p>
        </p:txBody>
      </p:sp>
      <p:sp>
        <p:nvSpPr>
          <p:cNvPr id="45" name="Shape 43"/>
          <p:cNvSpPr/>
          <p:nvPr/>
        </p:nvSpPr>
        <p:spPr>
          <a:xfrm>
            <a:off x="6217920" y="5596128"/>
            <a:ext cx="5486400" cy="384048"/>
          </a:xfrm>
          <a:prstGeom prst="rect">
            <a:avLst/>
          </a:prstGeom>
          <a:solidFill>
            <a:srgbClr val="F1F5F9"/>
          </a:solidFill>
          <a:ln/>
        </p:spPr>
      </p:sp>
      <p:sp>
        <p:nvSpPr>
          <p:cNvPr id="46" name="Text 44"/>
          <p:cNvSpPr/>
          <p:nvPr/>
        </p:nvSpPr>
        <p:spPr>
          <a:xfrm>
            <a:off x="6355080" y="5632704"/>
            <a:ext cx="548640" cy="320040"/>
          </a:xfrm>
          <a:prstGeom prst="rect">
            <a:avLst/>
          </a:prstGeom>
          <a:noFill/>
          <a:ln/>
        </p:spPr>
        <p:txBody>
          <a:bodyPr wrap="square" lIns="0" tIns="0" rIns="0" bIns="0" rtlCol="0" anchor="ctr"/>
          <a:lstStyle/>
          <a:p>
            <a:pPr indent="0" marL="0">
              <a:buNone/>
            </a:pPr>
            <a:r>
              <a:rPr lang="en-US" sz="1100" b="1" dirty="0">
                <a:solidFill>
                  <a:srgbClr val="E85D75"/>
                </a:solidFill>
                <a:latin typeface="Calibri" pitchFamily="34" charset="0"/>
                <a:ea typeface="Calibri" pitchFamily="34" charset="-122"/>
                <a:cs typeface="Calibri" pitchFamily="34" charset="-120"/>
              </a:rPr>
              <a:t>14</a:t>
            </a:r>
            <a:endParaRPr lang="en-US" sz="1100" dirty="0"/>
          </a:p>
        </p:txBody>
      </p:sp>
      <p:sp>
        <p:nvSpPr>
          <p:cNvPr id="47" name="Text 45"/>
          <p:cNvSpPr/>
          <p:nvPr/>
        </p:nvSpPr>
        <p:spPr>
          <a:xfrm>
            <a:off x="6903720" y="5632704"/>
            <a:ext cx="4754880" cy="320040"/>
          </a:xfrm>
          <a:prstGeom prst="rect">
            <a:avLst/>
          </a:prstGeom>
          <a:noFill/>
          <a:ln/>
        </p:spPr>
        <p:txBody>
          <a:bodyPr wrap="square" lIns="0" tIns="0" rIns="0" bIns="0" rtlCol="0" anchor="ctr"/>
          <a:lstStyle/>
          <a:p>
            <a:pPr indent="0" marL="0">
              <a:buNone/>
            </a:pPr>
            <a:r>
              <a:rPr lang="en-US" sz="1300" dirty="0">
                <a:solidFill>
                  <a:srgbClr val="0F172A"/>
                </a:solidFill>
                <a:latin typeface="Calibri" pitchFamily="34" charset="0"/>
                <a:ea typeface="Calibri" pitchFamily="34" charset="-122"/>
                <a:cs typeface="Calibri" pitchFamily="34" charset="-120"/>
              </a:rPr>
              <a:t>Overall property rating</a:t>
            </a:r>
            <a:endParaRPr lang="en-US" sz="1300" dirty="0"/>
          </a:p>
        </p:txBody>
      </p:sp>
      <p:sp>
        <p:nvSpPr>
          <p:cNvPr id="48" name="Text 46"/>
          <p:cNvSpPr/>
          <p:nvPr/>
        </p:nvSpPr>
        <p:spPr>
          <a:xfrm>
            <a:off x="10728655" y="6446520"/>
            <a:ext cx="1280160" cy="274320"/>
          </a:xfrm>
          <a:prstGeom prst="rect">
            <a:avLst/>
          </a:prstGeom>
          <a:noFill/>
          <a:ln/>
        </p:spPr>
        <p:txBody>
          <a:bodyPr wrap="square" lIns="0" tIns="0" rIns="0" bIns="0" rtlCol="0" anchor="ctr"/>
          <a:lstStyle/>
          <a:p>
            <a:pPr algn="r" indent="0" marL="0">
              <a:buNone/>
            </a:pPr>
            <a:r>
              <a:rPr lang="en-US" sz="1200" b="1" dirty="0">
                <a:solidFill>
                  <a:srgbClr val="E85D75"/>
                </a:solidFill>
                <a:latin typeface="Calibri" pitchFamily="34" charset="0"/>
                <a:ea typeface="Calibri" pitchFamily="34" charset="-122"/>
                <a:cs typeface="Calibri" pitchFamily="34" charset="-120"/>
              </a:rPr>
              <a:t>veroax</a:t>
            </a:r>
            <a:pPr algn="r" indent="0" marL="0">
              <a:buNone/>
            </a:pPr>
            <a:r>
              <a:rPr lang="en-US" sz="1200" b="1" dirty="0">
                <a:solidFill>
                  <a:srgbClr val="3FB8AF"/>
                </a:solidFill>
                <a:latin typeface="Calibri" pitchFamily="34" charset="0"/>
                <a:ea typeface="Calibri" pitchFamily="34" charset="-122"/>
                <a:cs typeface="Calibri" pitchFamily="34" charset="-120"/>
              </a:rPr>
              <a:t> • </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B4B"/>
        </a:solidFill>
      </p:bgPr>
    </p:bg>
    <p:spTree>
      <p:nvGrpSpPr>
        <p:cNvPr id="1" name=""/>
        <p:cNvGrpSpPr/>
        <p:nvPr/>
      </p:nvGrpSpPr>
      <p:grpSpPr>
        <a:xfrm>
          <a:off x="0" y="0"/>
          <a:ext cx="0" cy="0"/>
          <a:chOff x="0" y="0"/>
          <a:chExt cx="0" cy="0"/>
        </a:xfrm>
      </p:grpSpPr>
      <p:sp>
        <p:nvSpPr>
          <p:cNvPr id="2" name="Text 0"/>
          <p:cNvSpPr/>
          <p:nvPr/>
        </p:nvSpPr>
        <p:spPr>
          <a:xfrm>
            <a:off x="457200" y="365760"/>
            <a:ext cx="1097280" cy="228600"/>
          </a:xfrm>
          <a:prstGeom prst="rect">
            <a:avLst/>
          </a:prstGeom>
          <a:noFill/>
          <a:ln/>
        </p:spPr>
        <p:txBody>
          <a:bodyPr wrap="square" lIns="0" tIns="0" rIns="0" bIns="0" rtlCol="0" anchor="ctr"/>
          <a:lstStyle/>
          <a:p>
            <a:pPr indent="0" marL="0">
              <a:buNone/>
            </a:pPr>
            <a:r>
              <a:rPr lang="en-US" sz="900" b="1" spc="400" kern="0" dirty="0">
                <a:solidFill>
                  <a:srgbClr val="CBD5E1"/>
                </a:solidFill>
                <a:latin typeface="Calibri" pitchFamily="34" charset="0"/>
                <a:ea typeface="Calibri" pitchFamily="34" charset="-122"/>
                <a:cs typeface="Calibri" pitchFamily="34" charset="-120"/>
              </a:rPr>
              <a:t>06 / 12</a:t>
            </a:r>
            <a:endParaRPr lang="en-US" sz="900" dirty="0"/>
          </a:p>
        </p:txBody>
      </p:sp>
      <p:sp>
        <p:nvSpPr>
          <p:cNvPr id="3" name="Text 1"/>
          <p:cNvSpPr/>
          <p:nvPr/>
        </p:nvSpPr>
        <p:spPr>
          <a:xfrm>
            <a:off x="457200" y="777240"/>
            <a:ext cx="10972800" cy="365760"/>
          </a:xfrm>
          <a:prstGeom prst="rect">
            <a:avLst/>
          </a:prstGeom>
          <a:noFill/>
          <a:ln/>
        </p:spPr>
        <p:txBody>
          <a:bodyPr wrap="square" lIns="0" tIns="0" rIns="0" bIns="0" rtlCol="0" anchor="ctr"/>
          <a:lstStyle/>
          <a:p>
            <a:pPr indent="0" marL="0">
              <a:buNone/>
            </a:pPr>
            <a:r>
              <a:rPr lang="en-US" sz="1100" b="1" spc="500" kern="0" dirty="0">
                <a:solidFill>
                  <a:srgbClr val="FCD34D"/>
                </a:solidFill>
                <a:latin typeface="Calibri" pitchFamily="34" charset="0"/>
                <a:ea typeface="Calibri" pitchFamily="34" charset="-122"/>
                <a:cs typeface="Calibri" pitchFamily="34" charset="-120"/>
              </a:rPr>
              <a:t>Quality safeguards</a:t>
            </a:r>
            <a:endParaRPr lang="en-US" sz="1100" dirty="0"/>
          </a:p>
        </p:txBody>
      </p:sp>
      <p:sp>
        <p:nvSpPr>
          <p:cNvPr id="4" name="Text 2"/>
          <p:cNvSpPr/>
          <p:nvPr/>
        </p:nvSpPr>
        <p:spPr>
          <a:xfrm>
            <a:off x="457200" y="1143000"/>
            <a:ext cx="11247120" cy="9144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Why your office will trust the output.</a:t>
            </a:r>
            <a:endParaRPr lang="en-US" sz="3200" dirty="0"/>
          </a:p>
        </p:txBody>
      </p:sp>
      <p:sp>
        <p:nvSpPr>
          <p:cNvPr id="5" name="Shape 3"/>
          <p:cNvSpPr/>
          <p:nvPr/>
        </p:nvSpPr>
        <p:spPr>
          <a:xfrm>
            <a:off x="457200" y="2743200"/>
            <a:ext cx="3657600" cy="1600200"/>
          </a:xfrm>
          <a:prstGeom prst="rect">
            <a:avLst/>
          </a:prstGeom>
          <a:solidFill>
            <a:srgbClr val="0F0E2E"/>
          </a:solidFill>
          <a:ln w="12700">
            <a:solidFill>
              <a:srgbClr val="3FB8AF"/>
            </a:solidFill>
            <a:prstDash val="solid"/>
          </a:ln>
        </p:spPr>
      </p:sp>
      <p:sp>
        <p:nvSpPr>
          <p:cNvPr id="6" name="Text 4"/>
          <p:cNvSpPr/>
          <p:nvPr/>
        </p:nvSpPr>
        <p:spPr>
          <a:xfrm>
            <a:off x="685800" y="2926080"/>
            <a:ext cx="3200400" cy="411480"/>
          </a:xfrm>
          <a:prstGeom prst="rect">
            <a:avLst/>
          </a:prstGeom>
          <a:noFill/>
          <a:ln/>
        </p:spPr>
        <p:txBody>
          <a:bodyPr wrap="square" lIns="0" tIns="0" rIns="0" bIns="0" rtlCol="0" anchor="ctr"/>
          <a:lstStyle/>
          <a:p>
            <a:pPr indent="0" marL="0">
              <a:buNone/>
            </a:pPr>
            <a:r>
              <a:rPr lang="en-US" sz="1600" b="1" dirty="0">
                <a:solidFill>
                  <a:srgbClr val="4ECDC4"/>
                </a:solidFill>
                <a:latin typeface="Calibri" pitchFamily="34" charset="0"/>
                <a:ea typeface="Calibri" pitchFamily="34" charset="-122"/>
                <a:cs typeface="Calibri" pitchFamily="34" charset="-120"/>
              </a:rPr>
              <a:t>Temperature 0</a:t>
            </a:r>
            <a:endParaRPr lang="en-US" sz="1600" dirty="0"/>
          </a:p>
        </p:txBody>
      </p:sp>
      <p:sp>
        <p:nvSpPr>
          <p:cNvPr id="7" name="Text 5"/>
          <p:cNvSpPr/>
          <p:nvPr/>
        </p:nvSpPr>
        <p:spPr>
          <a:xfrm>
            <a:off x="685800" y="3383280"/>
            <a:ext cx="3200400" cy="914400"/>
          </a:xfrm>
          <a:prstGeom prst="rect">
            <a:avLst/>
          </a:prstGeom>
          <a:noFill/>
          <a:ln/>
        </p:spPr>
        <p:txBody>
          <a:bodyPr wrap="square" lIns="0" tIns="0" rIns="0" bIns="0" rtlCol="0" anchor="ctr"/>
          <a:lstStyle/>
          <a:p>
            <a:pPr indent="0" marL="0">
              <a:lnSpc>
                <a:spcPct val="135000"/>
              </a:lnSpc>
              <a:buNone/>
            </a:pPr>
            <a:r>
              <a:rPr lang="en-US" sz="1200" dirty="0">
                <a:solidFill>
                  <a:srgbClr val="CBD5E1"/>
                </a:solidFill>
                <a:latin typeface="Calibri" pitchFamily="34" charset="0"/>
                <a:ea typeface="Calibri" pitchFamily="34" charset="-122"/>
                <a:cs typeface="Calibri" pitchFamily="34" charset="-120"/>
              </a:rPr>
              <a:t>Same package, same report. Determinism makes the analysis auditable.</a:t>
            </a:r>
            <a:endParaRPr lang="en-US" sz="1200" dirty="0"/>
          </a:p>
        </p:txBody>
      </p:sp>
      <p:sp>
        <p:nvSpPr>
          <p:cNvPr id="8" name="Shape 6"/>
          <p:cNvSpPr/>
          <p:nvPr/>
        </p:nvSpPr>
        <p:spPr>
          <a:xfrm>
            <a:off x="4343400" y="2743200"/>
            <a:ext cx="3657600" cy="1600200"/>
          </a:xfrm>
          <a:prstGeom prst="rect">
            <a:avLst/>
          </a:prstGeom>
          <a:solidFill>
            <a:srgbClr val="0F0E2E"/>
          </a:solidFill>
          <a:ln w="12700">
            <a:solidFill>
              <a:srgbClr val="3FB8AF"/>
            </a:solidFill>
            <a:prstDash val="solid"/>
          </a:ln>
        </p:spPr>
      </p:sp>
      <p:sp>
        <p:nvSpPr>
          <p:cNvPr id="9" name="Text 7"/>
          <p:cNvSpPr/>
          <p:nvPr/>
        </p:nvSpPr>
        <p:spPr>
          <a:xfrm>
            <a:off x="4572000" y="2926080"/>
            <a:ext cx="3200400" cy="411480"/>
          </a:xfrm>
          <a:prstGeom prst="rect">
            <a:avLst/>
          </a:prstGeom>
          <a:noFill/>
          <a:ln/>
        </p:spPr>
        <p:txBody>
          <a:bodyPr wrap="square" lIns="0" tIns="0" rIns="0" bIns="0" rtlCol="0" anchor="ctr"/>
          <a:lstStyle/>
          <a:p>
            <a:pPr indent="0" marL="0">
              <a:buNone/>
            </a:pPr>
            <a:r>
              <a:rPr lang="en-US" sz="1600" b="1" dirty="0">
                <a:solidFill>
                  <a:srgbClr val="4ECDC4"/>
                </a:solidFill>
                <a:latin typeface="Calibri" pitchFamily="34" charset="0"/>
                <a:ea typeface="Calibri" pitchFamily="34" charset="-122"/>
                <a:cs typeface="Calibri" pitchFamily="34" charset="-120"/>
              </a:rPr>
              <a:t>Confidence tags</a:t>
            </a:r>
            <a:endParaRPr lang="en-US" sz="1600" dirty="0"/>
          </a:p>
        </p:txBody>
      </p:sp>
      <p:sp>
        <p:nvSpPr>
          <p:cNvPr id="10" name="Text 8"/>
          <p:cNvSpPr/>
          <p:nvPr/>
        </p:nvSpPr>
        <p:spPr>
          <a:xfrm>
            <a:off x="4572000" y="3383280"/>
            <a:ext cx="3200400" cy="914400"/>
          </a:xfrm>
          <a:prstGeom prst="rect">
            <a:avLst/>
          </a:prstGeom>
          <a:noFill/>
          <a:ln/>
        </p:spPr>
        <p:txBody>
          <a:bodyPr wrap="square" lIns="0" tIns="0" rIns="0" bIns="0" rtlCol="0" anchor="ctr"/>
          <a:lstStyle/>
          <a:p>
            <a:pPr indent="0" marL="0">
              <a:lnSpc>
                <a:spcPct val="135000"/>
              </a:lnSpc>
              <a:buNone/>
            </a:pPr>
            <a:r>
              <a:rPr lang="en-US" sz="1200" dirty="0">
                <a:solidFill>
                  <a:srgbClr val="CBD5E1"/>
                </a:solidFill>
                <a:latin typeface="Calibri" pitchFamily="34" charset="0"/>
                <a:ea typeface="Calibri" pitchFamily="34" charset="-122"/>
                <a:cs typeface="Calibri" pitchFamily="34" charset="-120"/>
              </a:rPr>
              <a:t>High / Medium / Low on every finding so the agent knows what's a direct read vs. an inference.</a:t>
            </a:r>
            <a:endParaRPr lang="en-US" sz="1200" dirty="0"/>
          </a:p>
        </p:txBody>
      </p:sp>
      <p:sp>
        <p:nvSpPr>
          <p:cNvPr id="11" name="Shape 9"/>
          <p:cNvSpPr/>
          <p:nvPr/>
        </p:nvSpPr>
        <p:spPr>
          <a:xfrm>
            <a:off x="8229600" y="2743200"/>
            <a:ext cx="3657600" cy="1600200"/>
          </a:xfrm>
          <a:prstGeom prst="rect">
            <a:avLst/>
          </a:prstGeom>
          <a:solidFill>
            <a:srgbClr val="0F0E2E"/>
          </a:solidFill>
          <a:ln w="12700">
            <a:solidFill>
              <a:srgbClr val="3FB8AF"/>
            </a:solidFill>
            <a:prstDash val="solid"/>
          </a:ln>
        </p:spPr>
      </p:sp>
      <p:sp>
        <p:nvSpPr>
          <p:cNvPr id="12" name="Text 10"/>
          <p:cNvSpPr/>
          <p:nvPr/>
        </p:nvSpPr>
        <p:spPr>
          <a:xfrm>
            <a:off x="8458200" y="2926080"/>
            <a:ext cx="3200400" cy="411480"/>
          </a:xfrm>
          <a:prstGeom prst="rect">
            <a:avLst/>
          </a:prstGeom>
          <a:noFill/>
          <a:ln/>
        </p:spPr>
        <p:txBody>
          <a:bodyPr wrap="square" lIns="0" tIns="0" rIns="0" bIns="0" rtlCol="0" anchor="ctr"/>
          <a:lstStyle/>
          <a:p>
            <a:pPr indent="0" marL="0">
              <a:buNone/>
            </a:pPr>
            <a:r>
              <a:rPr lang="en-US" sz="1600" b="1" dirty="0">
                <a:solidFill>
                  <a:srgbClr val="4ECDC4"/>
                </a:solidFill>
                <a:latin typeface="Calibri" pitchFamily="34" charset="0"/>
                <a:ea typeface="Calibri" pitchFamily="34" charset="-122"/>
                <a:cs typeface="Calibri" pitchFamily="34" charset="-120"/>
              </a:rPr>
              <a:t>Agent QA gate</a:t>
            </a:r>
            <a:endParaRPr lang="en-US" sz="1600" dirty="0"/>
          </a:p>
        </p:txBody>
      </p:sp>
      <p:sp>
        <p:nvSpPr>
          <p:cNvPr id="13" name="Text 11"/>
          <p:cNvSpPr/>
          <p:nvPr/>
        </p:nvSpPr>
        <p:spPr>
          <a:xfrm>
            <a:off x="8458200" y="3383280"/>
            <a:ext cx="3200400" cy="914400"/>
          </a:xfrm>
          <a:prstGeom prst="rect">
            <a:avLst/>
          </a:prstGeom>
          <a:noFill/>
          <a:ln/>
        </p:spPr>
        <p:txBody>
          <a:bodyPr wrap="square" lIns="0" tIns="0" rIns="0" bIns="0" rtlCol="0" anchor="ctr"/>
          <a:lstStyle/>
          <a:p>
            <a:pPr indent="0" marL="0">
              <a:lnSpc>
                <a:spcPct val="135000"/>
              </a:lnSpc>
              <a:buNone/>
            </a:pPr>
            <a:r>
              <a:rPr lang="en-US" sz="1200" dirty="0">
                <a:solidFill>
                  <a:srgbClr val="CBD5E1"/>
                </a:solidFill>
                <a:latin typeface="Calibri" pitchFamily="34" charset="0"/>
                <a:ea typeface="Calibri" pitchFamily="34" charset="-122"/>
                <a:cs typeface="Calibri" pitchFamily="34" charset="-120"/>
              </a:rPr>
              <a:t>No PDF generates until the agent reviews the structured summary and approves. Edits are tracked.</a:t>
            </a:r>
            <a:endParaRPr lang="en-US" sz="1200" dirty="0"/>
          </a:p>
        </p:txBody>
      </p:sp>
      <p:sp>
        <p:nvSpPr>
          <p:cNvPr id="14" name="Shape 12"/>
          <p:cNvSpPr/>
          <p:nvPr/>
        </p:nvSpPr>
        <p:spPr>
          <a:xfrm>
            <a:off x="457200" y="4526280"/>
            <a:ext cx="3657600" cy="1600200"/>
          </a:xfrm>
          <a:prstGeom prst="rect">
            <a:avLst/>
          </a:prstGeom>
          <a:solidFill>
            <a:srgbClr val="0F0E2E"/>
          </a:solidFill>
          <a:ln w="12700">
            <a:solidFill>
              <a:srgbClr val="3FB8AF"/>
            </a:solidFill>
            <a:prstDash val="solid"/>
          </a:ln>
        </p:spPr>
      </p:sp>
      <p:sp>
        <p:nvSpPr>
          <p:cNvPr id="15" name="Text 13"/>
          <p:cNvSpPr/>
          <p:nvPr/>
        </p:nvSpPr>
        <p:spPr>
          <a:xfrm>
            <a:off x="685800" y="4709160"/>
            <a:ext cx="3200400" cy="411480"/>
          </a:xfrm>
          <a:prstGeom prst="rect">
            <a:avLst/>
          </a:prstGeom>
          <a:noFill/>
          <a:ln/>
        </p:spPr>
        <p:txBody>
          <a:bodyPr wrap="square" lIns="0" tIns="0" rIns="0" bIns="0" rtlCol="0" anchor="ctr"/>
          <a:lstStyle/>
          <a:p>
            <a:pPr indent="0" marL="0">
              <a:buNone/>
            </a:pPr>
            <a:r>
              <a:rPr lang="en-US" sz="1600" b="1" dirty="0">
                <a:solidFill>
                  <a:srgbClr val="4ECDC4"/>
                </a:solidFill>
                <a:latin typeface="Calibri" pitchFamily="34" charset="0"/>
                <a:ea typeface="Calibri" pitchFamily="34" charset="-122"/>
                <a:cs typeface="Calibri" pitchFamily="34" charset="-120"/>
              </a:rPr>
              <a:t>Disclaimer + scope</a:t>
            </a:r>
            <a:endParaRPr lang="en-US" sz="1600" dirty="0"/>
          </a:p>
        </p:txBody>
      </p:sp>
      <p:sp>
        <p:nvSpPr>
          <p:cNvPr id="16" name="Text 14"/>
          <p:cNvSpPr/>
          <p:nvPr/>
        </p:nvSpPr>
        <p:spPr>
          <a:xfrm>
            <a:off x="685800" y="5166360"/>
            <a:ext cx="3200400" cy="914400"/>
          </a:xfrm>
          <a:prstGeom prst="rect">
            <a:avLst/>
          </a:prstGeom>
          <a:noFill/>
          <a:ln/>
        </p:spPr>
        <p:txBody>
          <a:bodyPr wrap="square" lIns="0" tIns="0" rIns="0" bIns="0" rtlCol="0" anchor="ctr"/>
          <a:lstStyle/>
          <a:p>
            <a:pPr indent="0" marL="0">
              <a:lnSpc>
                <a:spcPct val="135000"/>
              </a:lnSpc>
              <a:buNone/>
            </a:pPr>
            <a:r>
              <a:rPr lang="en-US" sz="1200" dirty="0">
                <a:solidFill>
                  <a:srgbClr val="CBD5E1"/>
                </a:solidFill>
                <a:latin typeface="Calibri" pitchFamily="34" charset="0"/>
                <a:ea typeface="Calibri" pitchFamily="34" charset="-122"/>
                <a:cs typeface="Calibri" pitchFamily="34" charset="-120"/>
              </a:rPr>
              <a:t>Every report carries the same legal framing the buyer's lawyer would expect to see.</a:t>
            </a:r>
            <a:endParaRPr lang="en-US" sz="1200" dirty="0"/>
          </a:p>
        </p:txBody>
      </p:sp>
      <p:sp>
        <p:nvSpPr>
          <p:cNvPr id="17" name="Shape 15"/>
          <p:cNvSpPr/>
          <p:nvPr/>
        </p:nvSpPr>
        <p:spPr>
          <a:xfrm>
            <a:off x="4343400" y="4526280"/>
            <a:ext cx="3657600" cy="1600200"/>
          </a:xfrm>
          <a:prstGeom prst="rect">
            <a:avLst/>
          </a:prstGeom>
          <a:solidFill>
            <a:srgbClr val="0F0E2E"/>
          </a:solidFill>
          <a:ln w="12700">
            <a:solidFill>
              <a:srgbClr val="3FB8AF"/>
            </a:solidFill>
            <a:prstDash val="solid"/>
          </a:ln>
        </p:spPr>
      </p:sp>
      <p:sp>
        <p:nvSpPr>
          <p:cNvPr id="18" name="Text 16"/>
          <p:cNvSpPr/>
          <p:nvPr/>
        </p:nvSpPr>
        <p:spPr>
          <a:xfrm>
            <a:off x="4572000" y="4709160"/>
            <a:ext cx="3200400" cy="411480"/>
          </a:xfrm>
          <a:prstGeom prst="rect">
            <a:avLst/>
          </a:prstGeom>
          <a:noFill/>
          <a:ln/>
        </p:spPr>
        <p:txBody>
          <a:bodyPr wrap="square" lIns="0" tIns="0" rIns="0" bIns="0" rtlCol="0" anchor="ctr"/>
          <a:lstStyle/>
          <a:p>
            <a:pPr indent="0" marL="0">
              <a:buNone/>
            </a:pPr>
            <a:r>
              <a:rPr lang="en-US" sz="1600" b="1" dirty="0">
                <a:solidFill>
                  <a:srgbClr val="4ECDC4"/>
                </a:solidFill>
                <a:latin typeface="Calibri" pitchFamily="34" charset="0"/>
                <a:ea typeface="Calibri" pitchFamily="34" charset="-122"/>
                <a:cs typeface="Calibri" pitchFamily="34" charset="-120"/>
              </a:rPr>
              <a:t>Source citations</a:t>
            </a:r>
            <a:endParaRPr lang="en-US" sz="1600" dirty="0"/>
          </a:p>
        </p:txBody>
      </p:sp>
      <p:sp>
        <p:nvSpPr>
          <p:cNvPr id="19" name="Text 17"/>
          <p:cNvSpPr/>
          <p:nvPr/>
        </p:nvSpPr>
        <p:spPr>
          <a:xfrm>
            <a:off x="4572000" y="5166360"/>
            <a:ext cx="3200400" cy="914400"/>
          </a:xfrm>
          <a:prstGeom prst="rect">
            <a:avLst/>
          </a:prstGeom>
          <a:noFill/>
          <a:ln/>
        </p:spPr>
        <p:txBody>
          <a:bodyPr wrap="square" lIns="0" tIns="0" rIns="0" bIns="0" rtlCol="0" anchor="ctr"/>
          <a:lstStyle/>
          <a:p>
            <a:pPr indent="0" marL="0">
              <a:lnSpc>
                <a:spcPct val="135000"/>
              </a:lnSpc>
              <a:buNone/>
            </a:pPr>
            <a:r>
              <a:rPr lang="en-US" sz="1200" dirty="0">
                <a:solidFill>
                  <a:srgbClr val="CBD5E1"/>
                </a:solidFill>
                <a:latin typeface="Calibri" pitchFamily="34" charset="0"/>
                <a:ea typeface="Calibri" pitchFamily="34" charset="-122"/>
                <a:cs typeface="Calibri" pitchFamily="34" charset="-120"/>
              </a:rPr>
              <a:t>Every finding ties back to the page and document it came from. Click-to-source on the dashboard.</a:t>
            </a:r>
            <a:endParaRPr lang="en-US" sz="1200" dirty="0"/>
          </a:p>
        </p:txBody>
      </p:sp>
      <p:sp>
        <p:nvSpPr>
          <p:cNvPr id="20" name="Shape 18"/>
          <p:cNvSpPr/>
          <p:nvPr/>
        </p:nvSpPr>
        <p:spPr>
          <a:xfrm>
            <a:off x="8229600" y="4526280"/>
            <a:ext cx="3657600" cy="1600200"/>
          </a:xfrm>
          <a:prstGeom prst="rect">
            <a:avLst/>
          </a:prstGeom>
          <a:solidFill>
            <a:srgbClr val="0F0E2E"/>
          </a:solidFill>
          <a:ln w="12700">
            <a:solidFill>
              <a:srgbClr val="3FB8AF"/>
            </a:solidFill>
            <a:prstDash val="solid"/>
          </a:ln>
        </p:spPr>
      </p:sp>
      <p:sp>
        <p:nvSpPr>
          <p:cNvPr id="21" name="Text 19"/>
          <p:cNvSpPr/>
          <p:nvPr/>
        </p:nvSpPr>
        <p:spPr>
          <a:xfrm>
            <a:off x="8458200" y="4709160"/>
            <a:ext cx="3200400" cy="411480"/>
          </a:xfrm>
          <a:prstGeom prst="rect">
            <a:avLst/>
          </a:prstGeom>
          <a:noFill/>
          <a:ln/>
        </p:spPr>
        <p:txBody>
          <a:bodyPr wrap="square" lIns="0" tIns="0" rIns="0" bIns="0" rtlCol="0" anchor="ctr"/>
          <a:lstStyle/>
          <a:p>
            <a:pPr indent="0" marL="0">
              <a:buNone/>
            </a:pPr>
            <a:r>
              <a:rPr lang="en-US" sz="1600" b="1" dirty="0">
                <a:solidFill>
                  <a:srgbClr val="4ECDC4"/>
                </a:solidFill>
                <a:latin typeface="Calibri" pitchFamily="34" charset="0"/>
                <a:ea typeface="Calibri" pitchFamily="34" charset="-122"/>
                <a:cs typeface="Calibri" pitchFamily="34" charset="-120"/>
              </a:rPr>
              <a:t>Severity rubric</a:t>
            </a:r>
            <a:endParaRPr lang="en-US" sz="1600" dirty="0"/>
          </a:p>
        </p:txBody>
      </p:sp>
      <p:sp>
        <p:nvSpPr>
          <p:cNvPr id="22" name="Text 20"/>
          <p:cNvSpPr/>
          <p:nvPr/>
        </p:nvSpPr>
        <p:spPr>
          <a:xfrm>
            <a:off x="8458200" y="5166360"/>
            <a:ext cx="3200400" cy="914400"/>
          </a:xfrm>
          <a:prstGeom prst="rect">
            <a:avLst/>
          </a:prstGeom>
          <a:noFill/>
          <a:ln/>
        </p:spPr>
        <p:txBody>
          <a:bodyPr wrap="square" lIns="0" tIns="0" rIns="0" bIns="0" rtlCol="0" anchor="ctr"/>
          <a:lstStyle/>
          <a:p>
            <a:pPr indent="0" marL="0">
              <a:lnSpc>
                <a:spcPct val="135000"/>
              </a:lnSpc>
              <a:buNone/>
            </a:pPr>
            <a:r>
              <a:rPr lang="en-US" sz="1200" dirty="0">
                <a:solidFill>
                  <a:srgbClr val="CBD5E1"/>
                </a:solidFill>
                <a:latin typeface="Calibri" pitchFamily="34" charset="0"/>
                <a:ea typeface="Calibri" pitchFamily="34" charset="-122"/>
                <a:cs typeface="Calibri" pitchFamily="34" charset="-120"/>
              </a:rPr>
              <a:t>Critical = deal-killer, High = leverage, Moderate = address, Cosmetic = note. Consistent across reports.</a:t>
            </a:r>
            <a:endParaRPr lang="en-US" sz="1200" dirty="0"/>
          </a:p>
        </p:txBody>
      </p:sp>
      <p:sp>
        <p:nvSpPr>
          <p:cNvPr id="23" name="Text 21"/>
          <p:cNvSpPr/>
          <p:nvPr/>
        </p:nvSpPr>
        <p:spPr>
          <a:xfrm>
            <a:off x="10728655" y="6446520"/>
            <a:ext cx="1280160" cy="274320"/>
          </a:xfrm>
          <a:prstGeom prst="rect">
            <a:avLst/>
          </a:prstGeom>
          <a:noFill/>
          <a:ln/>
        </p:spPr>
        <p:txBody>
          <a:bodyPr wrap="square" lIns="0" tIns="0" rIns="0" bIns="0" rtlCol="0" anchor="ctr"/>
          <a:lstStyle/>
          <a:p>
            <a:pPr algn="r" indent="0" marL="0">
              <a:buNone/>
            </a:pPr>
            <a:r>
              <a:rPr lang="en-US" sz="1200" b="1" dirty="0">
                <a:solidFill>
                  <a:srgbClr val="FF6B6B"/>
                </a:solidFill>
                <a:latin typeface="Calibri" pitchFamily="34" charset="0"/>
                <a:ea typeface="Calibri" pitchFamily="34" charset="-122"/>
                <a:cs typeface="Calibri" pitchFamily="34" charset="-120"/>
              </a:rPr>
              <a:t>veroax</a:t>
            </a:r>
            <a:pPr algn="r" indent="0" marL="0">
              <a:buNone/>
            </a:pPr>
            <a:r>
              <a:rPr lang="en-US" sz="1200" b="1" dirty="0">
                <a:solidFill>
                  <a:srgbClr val="4ECDC4"/>
                </a:solidFill>
                <a:latin typeface="Calibri" pitchFamily="34" charset="0"/>
                <a:ea typeface="Calibri" pitchFamily="34" charset="-122"/>
                <a:cs typeface="Calibri" pitchFamily="34" charset="-120"/>
              </a:rPr>
              <a:t> • </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 cy="228600"/>
          </a:xfrm>
          <a:prstGeom prst="rect">
            <a:avLst/>
          </a:prstGeom>
          <a:noFill/>
          <a:ln/>
        </p:spPr>
        <p:txBody>
          <a:bodyPr wrap="square" lIns="0" tIns="0" rIns="0" bIns="0"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07 / 12</a:t>
            </a:r>
            <a:endParaRPr lang="en-US" sz="900" dirty="0"/>
          </a:p>
        </p:txBody>
      </p:sp>
      <p:sp>
        <p:nvSpPr>
          <p:cNvPr id="3" name="Text 1"/>
          <p:cNvSpPr/>
          <p:nvPr/>
        </p:nvSpPr>
        <p:spPr>
          <a:xfrm>
            <a:off x="457200" y="777240"/>
            <a:ext cx="10972800" cy="320040"/>
          </a:xfrm>
          <a:prstGeom prst="rect">
            <a:avLst/>
          </a:prstGeom>
          <a:noFill/>
          <a:ln/>
        </p:spPr>
        <p:txBody>
          <a:bodyPr wrap="square" lIns="0" tIns="0" rIns="0" bIns="0" rtlCol="0" anchor="ctr"/>
          <a:lstStyle/>
          <a:p>
            <a:pPr indent="0" marL="0">
              <a:buNone/>
            </a:pPr>
            <a:r>
              <a:rPr lang="en-US" sz="1100" b="1" spc="500" kern="0" dirty="0">
                <a:solidFill>
                  <a:srgbClr val="E85D75"/>
                </a:solidFill>
                <a:latin typeface="Calibri" pitchFamily="34" charset="0"/>
                <a:ea typeface="Calibri" pitchFamily="34" charset="-122"/>
                <a:cs typeface="Calibri" pitchFamily="34" charset="-120"/>
              </a:rPr>
              <a:t>Built for your brand</a:t>
            </a:r>
            <a:endParaRPr lang="en-US" sz="1100" dirty="0"/>
          </a:p>
        </p:txBody>
      </p:sp>
      <p:sp>
        <p:nvSpPr>
          <p:cNvPr id="4" name="Text 2"/>
          <p:cNvSpPr/>
          <p:nvPr/>
        </p:nvSpPr>
        <p:spPr>
          <a:xfrm>
            <a:off x="457200" y="1143000"/>
            <a:ext cx="11247120" cy="914400"/>
          </a:xfrm>
          <a:prstGeom prst="rect">
            <a:avLst/>
          </a:prstGeom>
          <a:noFill/>
          <a:ln/>
        </p:spPr>
        <p:txBody>
          <a:bodyPr wrap="square" lIns="0" tIns="0" rIns="0" bIns="0" rtlCol="0" anchor="ctr"/>
          <a:lstStyle/>
          <a:p>
            <a:pPr indent="0" marL="0">
              <a:lnSpc>
                <a:spcPct val="110000"/>
              </a:lnSpc>
              <a:buNone/>
            </a:pPr>
            <a:r>
              <a:rPr lang="en-US" sz="3200" b="1" dirty="0">
                <a:solidFill>
                  <a:srgbClr val="0F172A"/>
                </a:solidFill>
                <a:latin typeface="Calibri" pitchFamily="34" charset="0"/>
                <a:ea typeface="Calibri" pitchFamily="34" charset="-122"/>
                <a:cs typeface="Calibri" pitchFamily="34" charset="-120"/>
              </a:rPr>
              <a:t>Veroax is a wholesale engine. Your office is the brand the client sees.</a:t>
            </a:r>
            <a:endParaRPr lang="en-US" sz="3200" dirty="0"/>
          </a:p>
        </p:txBody>
      </p:sp>
      <p:sp>
        <p:nvSpPr>
          <p:cNvPr id="5" name="Shape 3"/>
          <p:cNvSpPr/>
          <p:nvPr/>
        </p:nvSpPr>
        <p:spPr>
          <a:xfrm>
            <a:off x="457200" y="2834640"/>
            <a:ext cx="640080" cy="640080"/>
          </a:xfrm>
          <a:prstGeom prst="ellipse">
            <a:avLst/>
          </a:prstGeom>
          <a:solidFill>
            <a:srgbClr val="3FB8AF"/>
          </a:solidFill>
          <a:ln/>
        </p:spPr>
      </p:sp>
      <p:sp>
        <p:nvSpPr>
          <p:cNvPr id="6" name="Text 4"/>
          <p:cNvSpPr/>
          <p:nvPr/>
        </p:nvSpPr>
        <p:spPr>
          <a:xfrm>
            <a:off x="457200" y="283464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280160" y="2852928"/>
            <a:ext cx="502920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Branded PDF</a:t>
            </a:r>
            <a:endParaRPr lang="en-US" sz="1500" dirty="0"/>
          </a:p>
        </p:txBody>
      </p:sp>
      <p:sp>
        <p:nvSpPr>
          <p:cNvPr id="8" name="Text 6"/>
          <p:cNvSpPr/>
          <p:nvPr/>
        </p:nvSpPr>
        <p:spPr>
          <a:xfrm>
            <a:off x="1280160" y="3200400"/>
            <a:ext cx="5029200" cy="502920"/>
          </a:xfrm>
          <a:prstGeom prst="rect">
            <a:avLst/>
          </a:prstGeom>
          <a:noFill/>
          <a:ln/>
        </p:spPr>
        <p:txBody>
          <a:bodyPr wrap="square" lIns="0" tIns="0" rIns="0" bIns="0" rtlCol="0" anchor="ctr"/>
          <a:lstStyle/>
          <a:p>
            <a:pPr indent="0" marL="0">
              <a:lnSpc>
                <a:spcPct val="130000"/>
              </a:lnSpc>
              <a:buNone/>
            </a:pPr>
            <a:r>
              <a:rPr lang="en-US" sz="1200" dirty="0">
                <a:solidFill>
                  <a:srgbClr val="334155"/>
                </a:solidFill>
                <a:latin typeface="Calibri" pitchFamily="34" charset="0"/>
                <a:ea typeface="Calibri" pitchFamily="34" charset="-122"/>
                <a:cs typeface="Calibri" pitchFamily="34" charset="-120"/>
              </a:rPr>
              <a:t>Cover, running header, footer all carry your colors, logo, agent headshot, agent DRE, brokerage DRE.</a:t>
            </a:r>
            <a:endParaRPr lang="en-US" sz="1200" dirty="0"/>
          </a:p>
        </p:txBody>
      </p:sp>
      <p:sp>
        <p:nvSpPr>
          <p:cNvPr id="9" name="Shape 7"/>
          <p:cNvSpPr/>
          <p:nvPr/>
        </p:nvSpPr>
        <p:spPr>
          <a:xfrm>
            <a:off x="457200" y="3703320"/>
            <a:ext cx="640080" cy="640080"/>
          </a:xfrm>
          <a:prstGeom prst="ellipse">
            <a:avLst/>
          </a:prstGeom>
          <a:solidFill>
            <a:srgbClr val="3FB8AF"/>
          </a:solidFill>
          <a:ln/>
        </p:spPr>
      </p:sp>
      <p:sp>
        <p:nvSpPr>
          <p:cNvPr id="10" name="Text 8"/>
          <p:cNvSpPr/>
          <p:nvPr/>
        </p:nvSpPr>
        <p:spPr>
          <a:xfrm>
            <a:off x="457200" y="370332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280160" y="3721608"/>
            <a:ext cx="502920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Branded share link</a:t>
            </a:r>
            <a:endParaRPr lang="en-US" sz="1500" dirty="0"/>
          </a:p>
        </p:txBody>
      </p:sp>
      <p:sp>
        <p:nvSpPr>
          <p:cNvPr id="12" name="Text 10"/>
          <p:cNvSpPr/>
          <p:nvPr/>
        </p:nvSpPr>
        <p:spPr>
          <a:xfrm>
            <a:off x="1280160" y="4069080"/>
            <a:ext cx="5029200" cy="502920"/>
          </a:xfrm>
          <a:prstGeom prst="rect">
            <a:avLst/>
          </a:prstGeom>
          <a:noFill/>
          <a:ln/>
        </p:spPr>
        <p:txBody>
          <a:bodyPr wrap="square" lIns="0" tIns="0" rIns="0" bIns="0" rtlCol="0" anchor="ctr"/>
          <a:lstStyle/>
          <a:p>
            <a:pPr indent="0" marL="0">
              <a:lnSpc>
                <a:spcPct val="130000"/>
              </a:lnSpc>
              <a:buNone/>
            </a:pPr>
            <a:r>
              <a:rPr lang="en-US" sz="1200" dirty="0">
                <a:solidFill>
                  <a:srgbClr val="334155"/>
                </a:solidFill>
                <a:latin typeface="Calibri" pitchFamily="34" charset="0"/>
                <a:ea typeface="Calibri" pitchFamily="34" charset="-122"/>
                <a:cs typeface="Calibri" pitchFamily="34" charset="-120"/>
              </a:rPr>
              <a:t>Public /r/{code} URL where the buyer reads the report on mobile. Looks like your brokerage's site.</a:t>
            </a:r>
            <a:endParaRPr lang="en-US" sz="1200" dirty="0"/>
          </a:p>
        </p:txBody>
      </p:sp>
      <p:sp>
        <p:nvSpPr>
          <p:cNvPr id="13" name="Shape 11"/>
          <p:cNvSpPr/>
          <p:nvPr/>
        </p:nvSpPr>
        <p:spPr>
          <a:xfrm>
            <a:off x="457200" y="4572000"/>
            <a:ext cx="640080" cy="640080"/>
          </a:xfrm>
          <a:prstGeom prst="ellipse">
            <a:avLst/>
          </a:prstGeom>
          <a:solidFill>
            <a:srgbClr val="3FB8AF"/>
          </a:solidFill>
          <a:ln/>
        </p:spPr>
      </p:sp>
      <p:sp>
        <p:nvSpPr>
          <p:cNvPr id="14" name="Text 12"/>
          <p:cNvSpPr/>
          <p:nvPr/>
        </p:nvSpPr>
        <p:spPr>
          <a:xfrm>
            <a:off x="457200" y="45720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1280160" y="4590288"/>
            <a:ext cx="502920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Branded client email</a:t>
            </a:r>
            <a:endParaRPr lang="en-US" sz="1500" dirty="0"/>
          </a:p>
        </p:txBody>
      </p:sp>
      <p:sp>
        <p:nvSpPr>
          <p:cNvPr id="16" name="Text 14"/>
          <p:cNvSpPr/>
          <p:nvPr/>
        </p:nvSpPr>
        <p:spPr>
          <a:xfrm>
            <a:off x="1280160" y="4937760"/>
            <a:ext cx="5029200" cy="502920"/>
          </a:xfrm>
          <a:prstGeom prst="rect">
            <a:avLst/>
          </a:prstGeom>
          <a:noFill/>
          <a:ln/>
        </p:spPr>
        <p:txBody>
          <a:bodyPr wrap="square" lIns="0" tIns="0" rIns="0" bIns="0" rtlCol="0" anchor="ctr"/>
          <a:lstStyle/>
          <a:p>
            <a:pPr indent="0" marL="0">
              <a:lnSpc>
                <a:spcPct val="130000"/>
              </a:lnSpc>
              <a:buNone/>
            </a:pPr>
            <a:r>
              <a:rPr lang="en-US" sz="1200" dirty="0">
                <a:solidFill>
                  <a:srgbClr val="334155"/>
                </a:solidFill>
                <a:latin typeface="Calibri" pitchFamily="34" charset="0"/>
                <a:ea typeface="Calibri" pitchFamily="34" charset="-122"/>
                <a:cs typeface="Calibri" pitchFamily="34" charset="-120"/>
              </a:rPr>
              <a:t>Pre-written, agent-editable, sent from your domain. The buyer never sees the word Veroax.</a:t>
            </a:r>
            <a:endParaRPr lang="en-US" sz="1200" dirty="0"/>
          </a:p>
        </p:txBody>
      </p:sp>
      <p:sp>
        <p:nvSpPr>
          <p:cNvPr id="17" name="Shape 15"/>
          <p:cNvSpPr/>
          <p:nvPr/>
        </p:nvSpPr>
        <p:spPr>
          <a:xfrm>
            <a:off x="457200" y="5440680"/>
            <a:ext cx="640080" cy="640080"/>
          </a:xfrm>
          <a:prstGeom prst="ellipse">
            <a:avLst/>
          </a:prstGeom>
          <a:solidFill>
            <a:srgbClr val="3FB8AF"/>
          </a:solidFill>
          <a:ln/>
        </p:spPr>
      </p:sp>
      <p:sp>
        <p:nvSpPr>
          <p:cNvPr id="18" name="Text 16"/>
          <p:cNvSpPr/>
          <p:nvPr/>
        </p:nvSpPr>
        <p:spPr>
          <a:xfrm>
            <a:off x="457200" y="544068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1280160" y="5458968"/>
            <a:ext cx="5029200" cy="320040"/>
          </a:xfrm>
          <a:prstGeom prst="rect">
            <a:avLst/>
          </a:prstGeom>
          <a:noFill/>
          <a:ln/>
        </p:spPr>
        <p:txBody>
          <a:bodyPr wrap="square" lIns="0" tIns="0" rIns="0" bIns="0" rtlCol="0" anchor="ctr"/>
          <a:lstStyle/>
          <a:p>
            <a:pPr indent="0" marL="0">
              <a:buNone/>
            </a:pPr>
            <a:r>
              <a:rPr lang="en-US" sz="1500" b="1" dirty="0">
                <a:solidFill>
                  <a:srgbClr val="0F172A"/>
                </a:solidFill>
                <a:latin typeface="Calibri" pitchFamily="34" charset="0"/>
                <a:ea typeface="Calibri" pitchFamily="34" charset="-122"/>
                <a:cs typeface="Calibri" pitchFamily="34" charset="-120"/>
              </a:rPr>
              <a:t>Multi-agent dashboard</a:t>
            </a:r>
            <a:endParaRPr lang="en-US" sz="1500" dirty="0"/>
          </a:p>
        </p:txBody>
      </p:sp>
      <p:sp>
        <p:nvSpPr>
          <p:cNvPr id="20" name="Text 18"/>
          <p:cNvSpPr/>
          <p:nvPr/>
        </p:nvSpPr>
        <p:spPr>
          <a:xfrm>
            <a:off x="1280160" y="5806440"/>
            <a:ext cx="5029200" cy="502920"/>
          </a:xfrm>
          <a:prstGeom prst="rect">
            <a:avLst/>
          </a:prstGeom>
          <a:noFill/>
          <a:ln/>
        </p:spPr>
        <p:txBody>
          <a:bodyPr wrap="square" lIns="0" tIns="0" rIns="0" bIns="0" rtlCol="0" anchor="ctr"/>
          <a:lstStyle/>
          <a:p>
            <a:pPr indent="0" marL="0">
              <a:lnSpc>
                <a:spcPct val="130000"/>
              </a:lnSpc>
              <a:buNone/>
            </a:pPr>
            <a:r>
              <a:rPr lang="en-US" sz="1200" dirty="0">
                <a:solidFill>
                  <a:srgbClr val="334155"/>
                </a:solidFill>
                <a:latin typeface="Calibri" pitchFamily="34" charset="0"/>
                <a:ea typeface="Calibri" pitchFamily="34" charset="-122"/>
                <a:cs typeface="Calibri" pitchFamily="34" charset="-120"/>
              </a:rPr>
              <a:t>Broker / owner sees every report across the office. Per-agent activity, throughput, error log.</a:t>
            </a:r>
            <a:endParaRPr lang="en-US" sz="1200" dirty="0"/>
          </a:p>
        </p:txBody>
      </p:sp>
      <p:sp>
        <p:nvSpPr>
          <p:cNvPr id="21" name="Shape 19"/>
          <p:cNvSpPr/>
          <p:nvPr/>
        </p:nvSpPr>
        <p:spPr>
          <a:xfrm>
            <a:off x="7040880" y="2743200"/>
            <a:ext cx="4663440" cy="3474720"/>
          </a:xfrm>
          <a:prstGeom prst="rect">
            <a:avLst/>
          </a:prstGeom>
          <a:solidFill>
            <a:srgbClr val="FAF8F2"/>
          </a:solidFill>
          <a:ln w="12700">
            <a:solidFill>
              <a:srgbClr val="CBD5E1"/>
            </a:solidFill>
            <a:prstDash val="solid"/>
          </a:ln>
        </p:spPr>
      </p:sp>
      <p:sp>
        <p:nvSpPr>
          <p:cNvPr id="22" name="Shape 20"/>
          <p:cNvSpPr/>
          <p:nvPr/>
        </p:nvSpPr>
        <p:spPr>
          <a:xfrm>
            <a:off x="7040880" y="2743200"/>
            <a:ext cx="228600" cy="3474720"/>
          </a:xfrm>
          <a:prstGeom prst="rect">
            <a:avLst/>
          </a:prstGeom>
          <a:solidFill>
            <a:srgbClr val="E85D75"/>
          </a:solidFill>
          <a:ln/>
        </p:spPr>
      </p:sp>
      <p:sp>
        <p:nvSpPr>
          <p:cNvPr id="23" name="Text 21"/>
          <p:cNvSpPr/>
          <p:nvPr/>
        </p:nvSpPr>
        <p:spPr>
          <a:xfrm>
            <a:off x="7406640" y="2926080"/>
            <a:ext cx="4114800" cy="320040"/>
          </a:xfrm>
          <a:prstGeom prst="rect">
            <a:avLst/>
          </a:prstGeom>
          <a:noFill/>
          <a:ln/>
        </p:spPr>
        <p:txBody>
          <a:bodyPr wrap="square" lIns="0" tIns="0" rIns="0" bIns="0" rtlCol="0" anchor="ctr"/>
          <a:lstStyle/>
          <a:p>
            <a:pPr indent="0" marL="0">
              <a:buNone/>
            </a:pPr>
            <a:r>
              <a:rPr lang="en-US" sz="1000" b="1" spc="300" kern="0" dirty="0">
                <a:solidFill>
                  <a:srgbClr val="64748B"/>
                </a:solidFill>
                <a:latin typeface="Calibri" pitchFamily="34" charset="0"/>
                <a:ea typeface="Calibri" pitchFamily="34" charset="-122"/>
                <a:cs typeface="Calibri" pitchFamily="34" charset="-120"/>
              </a:rPr>
              <a:t>YOUR BROKERAGE LOGO HERE</a:t>
            </a:r>
            <a:endParaRPr lang="en-US" sz="1000" dirty="0"/>
          </a:p>
        </p:txBody>
      </p:sp>
      <p:sp>
        <p:nvSpPr>
          <p:cNvPr id="24" name="Text 22"/>
          <p:cNvSpPr/>
          <p:nvPr/>
        </p:nvSpPr>
        <p:spPr>
          <a:xfrm>
            <a:off x="7406640" y="3291840"/>
            <a:ext cx="4114800" cy="36576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Disclosure Analysis Report</a:t>
            </a:r>
            <a:endParaRPr lang="en-US" sz="1400" dirty="0"/>
          </a:p>
        </p:txBody>
      </p:sp>
      <p:sp>
        <p:nvSpPr>
          <p:cNvPr id="25" name="Text 23"/>
          <p:cNvSpPr/>
          <p:nvPr/>
        </p:nvSpPr>
        <p:spPr>
          <a:xfrm>
            <a:off x="7406640" y="3703320"/>
            <a:ext cx="4114800" cy="822960"/>
          </a:xfrm>
          <a:prstGeom prst="rect">
            <a:avLst/>
          </a:prstGeom>
          <a:noFill/>
          <a:ln/>
        </p:spPr>
        <p:txBody>
          <a:bodyPr wrap="square" lIns="0" tIns="0" rIns="0" bIns="0" rtlCol="0" anchor="ctr"/>
          <a:lstStyle/>
          <a:p>
            <a:pPr indent="0" marL="0">
              <a:lnSpc>
                <a:spcPct val="115000"/>
              </a:lnSpc>
              <a:buNone/>
            </a:pPr>
            <a:r>
              <a:rPr lang="en-US" sz="2000" b="1" dirty="0">
                <a:solidFill>
                  <a:srgbClr val="0F172A"/>
                </a:solidFill>
                <a:latin typeface="Calibri" pitchFamily="34" charset="0"/>
                <a:ea typeface="Calibri" pitchFamily="34" charset="-122"/>
                <a:cs typeface="Calibri" pitchFamily="34" charset="-120"/>
              </a:rPr>
              <a:t>123 Example Drive</a:t>
            </a:r>
            <a:endParaRPr lang="en-US" sz="2000" dirty="0"/>
          </a:p>
          <a:p>
            <a:pPr indent="0" marL="0">
              <a:lnSpc>
                <a:spcPct val="115000"/>
              </a:lnSpc>
              <a:buNone/>
            </a:pPr>
            <a:r>
              <a:rPr lang="en-US" sz="2000" b="1" dirty="0">
                <a:solidFill>
                  <a:srgbClr val="0F172A"/>
                </a:solidFill>
                <a:latin typeface="Calibri" pitchFamily="34" charset="0"/>
                <a:ea typeface="Calibri" pitchFamily="34" charset="-122"/>
                <a:cs typeface="Calibri" pitchFamily="34" charset="-120"/>
              </a:rPr>
              <a:t>Sample City, CA 95000</a:t>
            </a:r>
            <a:endParaRPr lang="en-US" sz="2000" dirty="0"/>
          </a:p>
        </p:txBody>
      </p:sp>
      <p:sp>
        <p:nvSpPr>
          <p:cNvPr id="26" name="Text 24"/>
          <p:cNvSpPr/>
          <p:nvPr/>
        </p:nvSpPr>
        <p:spPr>
          <a:xfrm>
            <a:off x="7406640" y="4663440"/>
            <a:ext cx="4114800" cy="274320"/>
          </a:xfrm>
          <a:prstGeom prst="rect">
            <a:avLst/>
          </a:prstGeom>
          <a:noFill/>
          <a:ln/>
        </p:spPr>
        <p:txBody>
          <a:bodyPr wrap="square" lIns="0" tIns="0" rIns="0" bIns="0" rtlCol="0" anchor="ctr"/>
          <a:lstStyle/>
          <a:p>
            <a:pPr indent="0" marL="0">
              <a:buNone/>
            </a:pPr>
            <a:r>
              <a:rPr lang="en-US" sz="900" b="1" spc="300" kern="0" dirty="0">
                <a:solidFill>
                  <a:srgbClr val="64748B"/>
                </a:solidFill>
                <a:latin typeface="Calibri" pitchFamily="34" charset="0"/>
                <a:ea typeface="Calibri" pitchFamily="34" charset="-122"/>
                <a:cs typeface="Calibri" pitchFamily="34" charset="-120"/>
              </a:rPr>
              <a:t>Prepared for</a:t>
            </a:r>
            <a:endParaRPr lang="en-US" sz="900" dirty="0"/>
          </a:p>
        </p:txBody>
      </p:sp>
      <p:sp>
        <p:nvSpPr>
          <p:cNvPr id="27" name="Text 25"/>
          <p:cNvSpPr/>
          <p:nvPr/>
        </p:nvSpPr>
        <p:spPr>
          <a:xfrm>
            <a:off x="7406640" y="4937760"/>
            <a:ext cx="411480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Jane Buyer</a:t>
            </a:r>
            <a:endParaRPr lang="en-US" sz="1400" dirty="0"/>
          </a:p>
        </p:txBody>
      </p:sp>
      <p:sp>
        <p:nvSpPr>
          <p:cNvPr id="28" name="Text 26"/>
          <p:cNvSpPr/>
          <p:nvPr/>
        </p:nvSpPr>
        <p:spPr>
          <a:xfrm>
            <a:off x="7406640" y="5349240"/>
            <a:ext cx="4114800" cy="274320"/>
          </a:xfrm>
          <a:prstGeom prst="rect">
            <a:avLst/>
          </a:prstGeom>
          <a:noFill/>
          <a:ln/>
        </p:spPr>
        <p:txBody>
          <a:bodyPr wrap="square" lIns="0" tIns="0" rIns="0" bIns="0" rtlCol="0" anchor="ctr"/>
          <a:lstStyle/>
          <a:p>
            <a:pPr indent="0" marL="0">
              <a:buNone/>
            </a:pPr>
            <a:r>
              <a:rPr lang="en-US" sz="900" b="1" spc="300" kern="0" dirty="0">
                <a:solidFill>
                  <a:srgbClr val="64748B"/>
                </a:solidFill>
                <a:latin typeface="Calibri" pitchFamily="34" charset="0"/>
                <a:ea typeface="Calibri" pitchFamily="34" charset="-122"/>
                <a:cs typeface="Calibri" pitchFamily="34" charset="-120"/>
              </a:rPr>
              <a:t>Prepared by</a:t>
            </a:r>
            <a:endParaRPr lang="en-US" sz="900" dirty="0"/>
          </a:p>
        </p:txBody>
      </p:sp>
      <p:sp>
        <p:nvSpPr>
          <p:cNvPr id="29" name="Text 27"/>
          <p:cNvSpPr/>
          <p:nvPr/>
        </p:nvSpPr>
        <p:spPr>
          <a:xfrm>
            <a:off x="7406640" y="5623560"/>
            <a:ext cx="4114800" cy="320040"/>
          </a:xfrm>
          <a:prstGeom prst="rect">
            <a:avLst/>
          </a:prstGeom>
          <a:noFill/>
          <a:ln/>
        </p:spPr>
        <p:txBody>
          <a:bodyPr wrap="square" lIns="0" tIns="0" rIns="0" bIns="0" rtlCol="0" anchor="ctr"/>
          <a:lstStyle/>
          <a:p>
            <a:pPr indent="0" marL="0">
              <a:buNone/>
            </a:pPr>
            <a:r>
              <a:rPr lang="en-US" sz="1300" b="1" dirty="0">
                <a:solidFill>
                  <a:srgbClr val="0F172A"/>
                </a:solidFill>
                <a:latin typeface="Calibri" pitchFamily="34" charset="0"/>
                <a:ea typeface="Calibri" pitchFamily="34" charset="-122"/>
                <a:cs typeface="Calibri" pitchFamily="34" charset="-120"/>
              </a:rPr>
              <a:t>Agent Name, Your Brokerage</a:t>
            </a:r>
            <a:endParaRPr lang="en-US" sz="1300" dirty="0"/>
          </a:p>
        </p:txBody>
      </p:sp>
      <p:sp>
        <p:nvSpPr>
          <p:cNvPr id="30" name="Text 28"/>
          <p:cNvSpPr/>
          <p:nvPr/>
        </p:nvSpPr>
        <p:spPr>
          <a:xfrm>
            <a:off x="7406640" y="5897880"/>
            <a:ext cx="4114800" cy="2743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DRE #01234567   •   (xxx) xxx-xxxx</a:t>
            </a:r>
            <a:endParaRPr lang="en-US" sz="1100" dirty="0"/>
          </a:p>
        </p:txBody>
      </p:sp>
      <p:sp>
        <p:nvSpPr>
          <p:cNvPr id="31" name="Text 29"/>
          <p:cNvSpPr/>
          <p:nvPr/>
        </p:nvSpPr>
        <p:spPr>
          <a:xfrm>
            <a:off x="10728655" y="6446520"/>
            <a:ext cx="1280160" cy="274320"/>
          </a:xfrm>
          <a:prstGeom prst="rect">
            <a:avLst/>
          </a:prstGeom>
          <a:noFill/>
          <a:ln/>
        </p:spPr>
        <p:txBody>
          <a:bodyPr wrap="square" lIns="0" tIns="0" rIns="0" bIns="0" rtlCol="0" anchor="ctr"/>
          <a:lstStyle/>
          <a:p>
            <a:pPr algn="r" indent="0" marL="0">
              <a:buNone/>
            </a:pPr>
            <a:r>
              <a:rPr lang="en-US" sz="1200" b="1" dirty="0">
                <a:solidFill>
                  <a:srgbClr val="E85D75"/>
                </a:solidFill>
                <a:latin typeface="Calibri" pitchFamily="34" charset="0"/>
                <a:ea typeface="Calibri" pitchFamily="34" charset="-122"/>
                <a:cs typeface="Calibri" pitchFamily="34" charset="-120"/>
              </a:rPr>
              <a:t>veroax</a:t>
            </a:r>
            <a:pPr algn="r" indent="0" marL="0">
              <a:buNone/>
            </a:pPr>
            <a:r>
              <a:rPr lang="en-US" sz="1200" b="1" dirty="0">
                <a:solidFill>
                  <a:srgbClr val="3FB8AF"/>
                </a:solidFill>
                <a:latin typeface="Calibri" pitchFamily="34" charset="0"/>
                <a:ea typeface="Calibri" pitchFamily="34" charset="-122"/>
                <a:cs typeface="Calibri" pitchFamily="34" charset="-120"/>
              </a:rPr>
              <a:t> • </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 cy="228600"/>
          </a:xfrm>
          <a:prstGeom prst="rect">
            <a:avLst/>
          </a:prstGeom>
          <a:noFill/>
          <a:ln/>
        </p:spPr>
        <p:txBody>
          <a:bodyPr wrap="square" lIns="0" tIns="0" rIns="0" bIns="0"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08 / 12</a:t>
            </a:r>
            <a:endParaRPr lang="en-US" sz="900" dirty="0"/>
          </a:p>
        </p:txBody>
      </p:sp>
      <p:sp>
        <p:nvSpPr>
          <p:cNvPr id="3" name="Text 1"/>
          <p:cNvSpPr/>
          <p:nvPr/>
        </p:nvSpPr>
        <p:spPr>
          <a:xfrm>
            <a:off x="457200" y="777240"/>
            <a:ext cx="10972800" cy="320040"/>
          </a:xfrm>
          <a:prstGeom prst="rect">
            <a:avLst/>
          </a:prstGeom>
          <a:noFill/>
          <a:ln/>
        </p:spPr>
        <p:txBody>
          <a:bodyPr wrap="square" lIns="0" tIns="0" rIns="0" bIns="0" rtlCol="0" anchor="ctr"/>
          <a:lstStyle/>
          <a:p>
            <a:pPr indent="0" marL="0">
              <a:buNone/>
            </a:pPr>
            <a:r>
              <a:rPr lang="en-US" sz="1100" b="1" spc="500" kern="0" dirty="0">
                <a:solidFill>
                  <a:srgbClr val="E85D75"/>
                </a:solidFill>
                <a:latin typeface="Calibri" pitchFamily="34" charset="0"/>
                <a:ea typeface="Calibri" pitchFamily="34" charset="-122"/>
                <a:cs typeface="Calibri" pitchFamily="34" charset="-120"/>
              </a:rPr>
              <a:t>Plans</a:t>
            </a:r>
            <a:endParaRPr lang="en-US" sz="1100" dirty="0"/>
          </a:p>
        </p:txBody>
      </p:sp>
      <p:sp>
        <p:nvSpPr>
          <p:cNvPr id="4" name="Text 2"/>
          <p:cNvSpPr/>
          <p:nvPr/>
        </p:nvSpPr>
        <p:spPr>
          <a:xfrm>
            <a:off x="457200" y="1143000"/>
            <a:ext cx="11247120" cy="914400"/>
          </a:xfrm>
          <a:prstGeom prst="rect">
            <a:avLst/>
          </a:prstGeom>
          <a:noFill/>
          <a:ln/>
        </p:spPr>
        <p:txBody>
          <a:bodyPr wrap="square" lIns="0" tIns="0" rIns="0" bIns="0" rtlCol="0" anchor="ctr"/>
          <a:lstStyle/>
          <a:p>
            <a:pPr indent="0" marL="0">
              <a:lnSpc>
                <a:spcPct val="110000"/>
              </a:lnSpc>
              <a:buNone/>
            </a:pPr>
            <a:r>
              <a:rPr lang="en-US" sz="3200" b="1" dirty="0">
                <a:solidFill>
                  <a:srgbClr val="0F172A"/>
                </a:solidFill>
                <a:latin typeface="Calibri" pitchFamily="34" charset="0"/>
                <a:ea typeface="Calibri" pitchFamily="34" charset="-122"/>
                <a:cs typeface="Calibri" pitchFamily="34" charset="-120"/>
              </a:rPr>
              <a:t>Pricing for brokerages.</a:t>
            </a:r>
            <a:endParaRPr lang="en-US" sz="3200" dirty="0"/>
          </a:p>
        </p:txBody>
      </p:sp>
      <p:sp>
        <p:nvSpPr>
          <p:cNvPr id="5" name="Text 3"/>
          <p:cNvSpPr/>
          <p:nvPr/>
        </p:nvSpPr>
        <p:spPr>
          <a:xfrm>
            <a:off x="457200" y="2103120"/>
            <a:ext cx="11247120" cy="45720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Pick the tier that fits your office. Enterprise contracts available above 25 seats.</a:t>
            </a:r>
            <a:endParaRPr lang="en-US" sz="1500" dirty="0"/>
          </a:p>
        </p:txBody>
      </p:sp>
      <p:sp>
        <p:nvSpPr>
          <p:cNvPr id="6" name="Shape 4"/>
          <p:cNvSpPr/>
          <p:nvPr/>
        </p:nvSpPr>
        <p:spPr>
          <a:xfrm>
            <a:off x="457200" y="2834640"/>
            <a:ext cx="3657600" cy="3383280"/>
          </a:xfrm>
          <a:prstGeom prst="rect">
            <a:avLst/>
          </a:prstGeom>
          <a:solidFill>
            <a:srgbClr val="FAF8F2"/>
          </a:solidFill>
          <a:ln w="12700">
            <a:solidFill>
              <a:srgbClr val="CBD5E1"/>
            </a:solidFill>
            <a:prstDash val="solid"/>
          </a:ln>
        </p:spPr>
      </p:sp>
      <p:sp>
        <p:nvSpPr>
          <p:cNvPr id="7" name="Text 5"/>
          <p:cNvSpPr/>
          <p:nvPr/>
        </p:nvSpPr>
        <p:spPr>
          <a:xfrm>
            <a:off x="731520" y="3017520"/>
            <a:ext cx="3108960" cy="41148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Pro</a:t>
            </a:r>
            <a:endParaRPr lang="en-US" sz="1800" dirty="0"/>
          </a:p>
        </p:txBody>
      </p:sp>
      <p:sp>
        <p:nvSpPr>
          <p:cNvPr id="8" name="Text 6"/>
          <p:cNvSpPr/>
          <p:nvPr/>
        </p:nvSpPr>
        <p:spPr>
          <a:xfrm>
            <a:off x="731520" y="3429000"/>
            <a:ext cx="310896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Small teams (2 to 3 agents)</a:t>
            </a:r>
            <a:endParaRPr lang="en-US" sz="1100" dirty="0"/>
          </a:p>
        </p:txBody>
      </p:sp>
      <p:sp>
        <p:nvSpPr>
          <p:cNvPr id="9" name="Text 7"/>
          <p:cNvSpPr/>
          <p:nvPr/>
        </p:nvSpPr>
        <p:spPr>
          <a:xfrm>
            <a:off x="731520" y="3749040"/>
            <a:ext cx="3108960" cy="640080"/>
          </a:xfrm>
          <a:prstGeom prst="rect">
            <a:avLst/>
          </a:prstGeom>
          <a:noFill/>
          <a:ln/>
        </p:spPr>
        <p:txBody>
          <a:bodyPr wrap="square" lIns="0" tIns="0" rIns="0" bIns="0" rtlCol="0" anchor="ctr"/>
          <a:lstStyle/>
          <a:p>
            <a:pPr indent="0" marL="0">
              <a:buNone/>
            </a:pPr>
            <a:r>
              <a:rPr lang="en-US" sz="2800" b="1" dirty="0">
                <a:solidFill>
                  <a:srgbClr val="E85D75"/>
                </a:solidFill>
                <a:latin typeface="Calibri" pitchFamily="34" charset="0"/>
                <a:ea typeface="Calibri" pitchFamily="34" charset="-122"/>
                <a:cs typeface="Calibri" pitchFamily="34" charset="-120"/>
              </a:rPr>
              <a:t>$149 / mo</a:t>
            </a:r>
            <a:endParaRPr lang="en-US" sz="2800" dirty="0"/>
          </a:p>
        </p:txBody>
      </p:sp>
      <p:sp>
        <p:nvSpPr>
          <p:cNvPr id="10" name="Shape 8"/>
          <p:cNvSpPr/>
          <p:nvPr/>
        </p:nvSpPr>
        <p:spPr>
          <a:xfrm>
            <a:off x="731520" y="4599432"/>
            <a:ext cx="109728" cy="109728"/>
          </a:xfrm>
          <a:prstGeom prst="ellipse">
            <a:avLst/>
          </a:prstGeom>
          <a:solidFill>
            <a:srgbClr val="3FB8AF"/>
          </a:solidFill>
          <a:ln/>
        </p:spPr>
      </p:sp>
      <p:sp>
        <p:nvSpPr>
          <p:cNvPr id="11" name="Text 9"/>
          <p:cNvSpPr/>
          <p:nvPr/>
        </p:nvSpPr>
        <p:spPr>
          <a:xfrm>
            <a:off x="914400" y="4526280"/>
            <a:ext cx="3017520" cy="2743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10 disclosure reports / month</a:t>
            </a:r>
            <a:endParaRPr lang="en-US" sz="1100" dirty="0"/>
          </a:p>
        </p:txBody>
      </p:sp>
      <p:sp>
        <p:nvSpPr>
          <p:cNvPr id="12" name="Shape 10"/>
          <p:cNvSpPr/>
          <p:nvPr/>
        </p:nvSpPr>
        <p:spPr>
          <a:xfrm>
            <a:off x="731520" y="4892040"/>
            <a:ext cx="109728" cy="109728"/>
          </a:xfrm>
          <a:prstGeom prst="ellipse">
            <a:avLst/>
          </a:prstGeom>
          <a:solidFill>
            <a:srgbClr val="3FB8AF"/>
          </a:solidFill>
          <a:ln/>
        </p:spPr>
      </p:sp>
      <p:sp>
        <p:nvSpPr>
          <p:cNvPr id="13" name="Text 11"/>
          <p:cNvSpPr/>
          <p:nvPr/>
        </p:nvSpPr>
        <p:spPr>
          <a:xfrm>
            <a:off x="914400" y="4818888"/>
            <a:ext cx="3017520" cy="2743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3 agent seats included</a:t>
            </a:r>
            <a:endParaRPr lang="en-US" sz="1100" dirty="0"/>
          </a:p>
        </p:txBody>
      </p:sp>
      <p:sp>
        <p:nvSpPr>
          <p:cNvPr id="14" name="Shape 12"/>
          <p:cNvSpPr/>
          <p:nvPr/>
        </p:nvSpPr>
        <p:spPr>
          <a:xfrm>
            <a:off x="731520" y="5184648"/>
            <a:ext cx="109728" cy="109728"/>
          </a:xfrm>
          <a:prstGeom prst="ellipse">
            <a:avLst/>
          </a:prstGeom>
          <a:solidFill>
            <a:srgbClr val="3FB8AF"/>
          </a:solidFill>
          <a:ln/>
        </p:spPr>
      </p:sp>
      <p:sp>
        <p:nvSpPr>
          <p:cNvPr id="15" name="Text 13"/>
          <p:cNvSpPr/>
          <p:nvPr/>
        </p:nvSpPr>
        <p:spPr>
          <a:xfrm>
            <a:off x="914400" y="5111496"/>
            <a:ext cx="3017520" cy="2743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Custom brokerage colors + logo</a:t>
            </a:r>
            <a:endParaRPr lang="en-US" sz="1100" dirty="0"/>
          </a:p>
        </p:txBody>
      </p:sp>
      <p:sp>
        <p:nvSpPr>
          <p:cNvPr id="16" name="Shape 14"/>
          <p:cNvSpPr/>
          <p:nvPr/>
        </p:nvSpPr>
        <p:spPr>
          <a:xfrm>
            <a:off x="731520" y="5477256"/>
            <a:ext cx="109728" cy="109728"/>
          </a:xfrm>
          <a:prstGeom prst="ellipse">
            <a:avLst/>
          </a:prstGeom>
          <a:solidFill>
            <a:srgbClr val="3FB8AF"/>
          </a:solidFill>
          <a:ln/>
        </p:spPr>
      </p:sp>
      <p:sp>
        <p:nvSpPr>
          <p:cNvPr id="17" name="Text 15"/>
          <p:cNvSpPr/>
          <p:nvPr/>
        </p:nvSpPr>
        <p:spPr>
          <a:xfrm>
            <a:off x="914400" y="5404104"/>
            <a:ext cx="3017520" cy="2743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Priority email support</a:t>
            </a:r>
            <a:endParaRPr lang="en-US" sz="1100" dirty="0"/>
          </a:p>
        </p:txBody>
      </p:sp>
      <p:sp>
        <p:nvSpPr>
          <p:cNvPr id="18" name="Shape 16"/>
          <p:cNvSpPr/>
          <p:nvPr/>
        </p:nvSpPr>
        <p:spPr>
          <a:xfrm>
            <a:off x="4343400" y="2834640"/>
            <a:ext cx="3657600" cy="3383280"/>
          </a:xfrm>
          <a:prstGeom prst="rect">
            <a:avLst/>
          </a:prstGeom>
          <a:solidFill>
            <a:srgbClr val="E85D75"/>
          </a:solidFill>
          <a:ln w="12700">
            <a:solidFill>
              <a:srgbClr val="E85D75"/>
            </a:solidFill>
            <a:prstDash val="solid"/>
          </a:ln>
        </p:spPr>
      </p:sp>
      <p:sp>
        <p:nvSpPr>
          <p:cNvPr id="19" name="Text 17"/>
          <p:cNvSpPr/>
          <p:nvPr/>
        </p:nvSpPr>
        <p:spPr>
          <a:xfrm>
            <a:off x="5257800" y="2670048"/>
            <a:ext cx="1828800" cy="320040"/>
          </a:xfrm>
          <a:prstGeom prst="rect">
            <a:avLst/>
          </a:prstGeom>
          <a:solidFill>
            <a:srgbClr val="0F0E2E"/>
          </a:solidFill>
          <a:ln/>
        </p:spPr>
        <p:txBody>
          <a:bodyPr wrap="square" lIns="50800" tIns="50800" rIns="50800" bIns="50800" rtlCol="0" anchor="ctr"/>
          <a:lstStyle/>
          <a:p>
            <a:pPr algn="ctr" indent="0" marL="0">
              <a:buNone/>
            </a:pPr>
            <a:r>
              <a:rPr lang="en-US" sz="900" b="1" spc="300" kern="0" dirty="0">
                <a:solidFill>
                  <a:srgbClr val="FFFFFF"/>
                </a:solidFill>
                <a:latin typeface="Calibri" pitchFamily="34" charset="0"/>
                <a:ea typeface="Calibri" pitchFamily="34" charset="-122"/>
                <a:cs typeface="Calibri" pitchFamily="34" charset="-120"/>
              </a:rPr>
              <a:t>RECOMMENDED</a:t>
            </a:r>
            <a:endParaRPr lang="en-US" sz="900" dirty="0"/>
          </a:p>
        </p:txBody>
      </p:sp>
      <p:sp>
        <p:nvSpPr>
          <p:cNvPr id="20" name="Text 18"/>
          <p:cNvSpPr/>
          <p:nvPr/>
        </p:nvSpPr>
        <p:spPr>
          <a:xfrm>
            <a:off x="4617720" y="301752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Brokerage</a:t>
            </a:r>
            <a:endParaRPr lang="en-US" sz="1800" dirty="0"/>
          </a:p>
        </p:txBody>
      </p:sp>
      <p:sp>
        <p:nvSpPr>
          <p:cNvPr id="21" name="Text 19"/>
          <p:cNvSpPr/>
          <p:nvPr/>
        </p:nvSpPr>
        <p:spPr>
          <a:xfrm>
            <a:off x="4617720" y="3429000"/>
            <a:ext cx="3108960" cy="274320"/>
          </a:xfrm>
          <a:prstGeom prst="rect">
            <a:avLst/>
          </a:prstGeom>
          <a:noFill/>
          <a:ln/>
        </p:spPr>
        <p:txBody>
          <a:bodyPr wrap="square" lIns="0" tIns="0" rIns="0" bIns="0" rtlCol="0" anchor="ctr"/>
          <a:lstStyle/>
          <a:p>
            <a:pPr indent="0" marL="0">
              <a:buNone/>
            </a:pPr>
            <a:r>
              <a:rPr lang="en-US" sz="1100" dirty="0">
                <a:solidFill>
                  <a:srgbClr val="FAF8F2"/>
                </a:solidFill>
                <a:latin typeface="Calibri" pitchFamily="34" charset="0"/>
                <a:ea typeface="Calibri" pitchFamily="34" charset="-122"/>
                <a:cs typeface="Calibri" pitchFamily="34" charset="-120"/>
              </a:rPr>
              <a:t>Mid-size offices (10 to 25 agents)</a:t>
            </a:r>
            <a:endParaRPr lang="en-US" sz="1100" dirty="0"/>
          </a:p>
        </p:txBody>
      </p:sp>
      <p:sp>
        <p:nvSpPr>
          <p:cNvPr id="22" name="Text 20"/>
          <p:cNvSpPr/>
          <p:nvPr/>
        </p:nvSpPr>
        <p:spPr>
          <a:xfrm>
            <a:off x="4617720" y="3749040"/>
            <a:ext cx="310896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$449 / mo</a:t>
            </a:r>
            <a:endParaRPr lang="en-US" sz="2800" dirty="0"/>
          </a:p>
        </p:txBody>
      </p:sp>
      <p:sp>
        <p:nvSpPr>
          <p:cNvPr id="23" name="Shape 21"/>
          <p:cNvSpPr/>
          <p:nvPr/>
        </p:nvSpPr>
        <p:spPr>
          <a:xfrm>
            <a:off x="4617720" y="4599432"/>
            <a:ext cx="109728" cy="109728"/>
          </a:xfrm>
          <a:prstGeom prst="ellipse">
            <a:avLst/>
          </a:prstGeom>
          <a:solidFill>
            <a:srgbClr val="4ECDC4"/>
          </a:solidFill>
          <a:ln/>
        </p:spPr>
      </p:sp>
      <p:sp>
        <p:nvSpPr>
          <p:cNvPr id="24" name="Text 22"/>
          <p:cNvSpPr/>
          <p:nvPr/>
        </p:nvSpPr>
        <p:spPr>
          <a:xfrm>
            <a:off x="4800600" y="4526280"/>
            <a:ext cx="301752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40 disclosure reports / month</a:t>
            </a:r>
            <a:endParaRPr lang="en-US" sz="1100" dirty="0"/>
          </a:p>
        </p:txBody>
      </p:sp>
      <p:sp>
        <p:nvSpPr>
          <p:cNvPr id="25" name="Shape 23"/>
          <p:cNvSpPr/>
          <p:nvPr/>
        </p:nvSpPr>
        <p:spPr>
          <a:xfrm>
            <a:off x="4617720" y="4892040"/>
            <a:ext cx="109728" cy="109728"/>
          </a:xfrm>
          <a:prstGeom prst="ellipse">
            <a:avLst/>
          </a:prstGeom>
          <a:solidFill>
            <a:srgbClr val="4ECDC4"/>
          </a:solidFill>
          <a:ln/>
        </p:spPr>
      </p:sp>
      <p:sp>
        <p:nvSpPr>
          <p:cNvPr id="26" name="Text 24"/>
          <p:cNvSpPr/>
          <p:nvPr/>
        </p:nvSpPr>
        <p:spPr>
          <a:xfrm>
            <a:off x="4800600" y="4818888"/>
            <a:ext cx="301752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25 agent seats included</a:t>
            </a:r>
            <a:endParaRPr lang="en-US" sz="1100" dirty="0"/>
          </a:p>
        </p:txBody>
      </p:sp>
      <p:sp>
        <p:nvSpPr>
          <p:cNvPr id="27" name="Shape 25"/>
          <p:cNvSpPr/>
          <p:nvPr/>
        </p:nvSpPr>
        <p:spPr>
          <a:xfrm>
            <a:off x="4617720" y="5184648"/>
            <a:ext cx="109728" cy="109728"/>
          </a:xfrm>
          <a:prstGeom prst="ellipse">
            <a:avLst/>
          </a:prstGeom>
          <a:solidFill>
            <a:srgbClr val="4ECDC4"/>
          </a:solidFill>
          <a:ln/>
        </p:spPr>
      </p:sp>
      <p:sp>
        <p:nvSpPr>
          <p:cNvPr id="28" name="Text 26"/>
          <p:cNvSpPr/>
          <p:nvPr/>
        </p:nvSpPr>
        <p:spPr>
          <a:xfrm>
            <a:off x="4800600" y="5111496"/>
            <a:ext cx="301752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Brokerage-wide reporting dashboard</a:t>
            </a:r>
            <a:endParaRPr lang="en-US" sz="1100" dirty="0"/>
          </a:p>
        </p:txBody>
      </p:sp>
      <p:sp>
        <p:nvSpPr>
          <p:cNvPr id="29" name="Shape 27"/>
          <p:cNvSpPr/>
          <p:nvPr/>
        </p:nvSpPr>
        <p:spPr>
          <a:xfrm>
            <a:off x="4617720" y="5477256"/>
            <a:ext cx="109728" cy="109728"/>
          </a:xfrm>
          <a:prstGeom prst="ellipse">
            <a:avLst/>
          </a:prstGeom>
          <a:solidFill>
            <a:srgbClr val="4ECDC4"/>
          </a:solidFill>
          <a:ln/>
        </p:spPr>
      </p:sp>
      <p:sp>
        <p:nvSpPr>
          <p:cNvPr id="30" name="Text 28"/>
          <p:cNvSpPr/>
          <p:nvPr/>
        </p:nvSpPr>
        <p:spPr>
          <a:xfrm>
            <a:off x="4800600" y="5404104"/>
            <a:ext cx="301752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Onboarding call + dedicated CSM</a:t>
            </a:r>
            <a:endParaRPr lang="en-US" sz="1100" dirty="0"/>
          </a:p>
        </p:txBody>
      </p:sp>
      <p:sp>
        <p:nvSpPr>
          <p:cNvPr id="31" name="Shape 29"/>
          <p:cNvSpPr/>
          <p:nvPr/>
        </p:nvSpPr>
        <p:spPr>
          <a:xfrm>
            <a:off x="4617720" y="5769864"/>
            <a:ext cx="109728" cy="109728"/>
          </a:xfrm>
          <a:prstGeom prst="ellipse">
            <a:avLst/>
          </a:prstGeom>
          <a:solidFill>
            <a:srgbClr val="4ECDC4"/>
          </a:solidFill>
          <a:ln/>
        </p:spPr>
      </p:sp>
      <p:sp>
        <p:nvSpPr>
          <p:cNvPr id="32" name="Text 30"/>
          <p:cNvSpPr/>
          <p:nvPr/>
        </p:nvSpPr>
        <p:spPr>
          <a:xfrm>
            <a:off x="4800600" y="5696712"/>
            <a:ext cx="3017520" cy="27432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White-label (no Veroax wordmark)</a:t>
            </a:r>
            <a:endParaRPr lang="en-US" sz="1100" dirty="0"/>
          </a:p>
        </p:txBody>
      </p:sp>
      <p:sp>
        <p:nvSpPr>
          <p:cNvPr id="33" name="Shape 31"/>
          <p:cNvSpPr/>
          <p:nvPr/>
        </p:nvSpPr>
        <p:spPr>
          <a:xfrm>
            <a:off x="8229600" y="2834640"/>
            <a:ext cx="3657600" cy="3383280"/>
          </a:xfrm>
          <a:prstGeom prst="rect">
            <a:avLst/>
          </a:prstGeom>
          <a:solidFill>
            <a:srgbClr val="FAF8F2"/>
          </a:solidFill>
          <a:ln w="12700">
            <a:solidFill>
              <a:srgbClr val="CBD5E1"/>
            </a:solidFill>
            <a:prstDash val="solid"/>
          </a:ln>
        </p:spPr>
      </p:sp>
      <p:sp>
        <p:nvSpPr>
          <p:cNvPr id="34" name="Text 32"/>
          <p:cNvSpPr/>
          <p:nvPr/>
        </p:nvSpPr>
        <p:spPr>
          <a:xfrm>
            <a:off x="8503920" y="3017520"/>
            <a:ext cx="3108960" cy="41148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Enterprise</a:t>
            </a:r>
            <a:endParaRPr lang="en-US" sz="1800" dirty="0"/>
          </a:p>
        </p:txBody>
      </p:sp>
      <p:sp>
        <p:nvSpPr>
          <p:cNvPr id="35" name="Text 33"/>
          <p:cNvSpPr/>
          <p:nvPr/>
        </p:nvSpPr>
        <p:spPr>
          <a:xfrm>
            <a:off x="8503920" y="3429000"/>
            <a:ext cx="310896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Brokerages above 25 agents</a:t>
            </a:r>
            <a:endParaRPr lang="en-US" sz="1100" dirty="0"/>
          </a:p>
        </p:txBody>
      </p:sp>
      <p:sp>
        <p:nvSpPr>
          <p:cNvPr id="36" name="Text 34"/>
          <p:cNvSpPr/>
          <p:nvPr/>
        </p:nvSpPr>
        <p:spPr>
          <a:xfrm>
            <a:off x="8503920" y="3749040"/>
            <a:ext cx="3108960" cy="640080"/>
          </a:xfrm>
          <a:prstGeom prst="rect">
            <a:avLst/>
          </a:prstGeom>
          <a:noFill/>
          <a:ln/>
        </p:spPr>
        <p:txBody>
          <a:bodyPr wrap="square" lIns="0" tIns="0" rIns="0" bIns="0" rtlCol="0" anchor="ctr"/>
          <a:lstStyle/>
          <a:p>
            <a:pPr indent="0" marL="0">
              <a:buNone/>
            </a:pPr>
            <a:r>
              <a:rPr lang="en-US" sz="2800" b="1" dirty="0">
                <a:solidFill>
                  <a:srgbClr val="E85D75"/>
                </a:solidFill>
                <a:latin typeface="Calibri" pitchFamily="34" charset="0"/>
                <a:ea typeface="Calibri" pitchFamily="34" charset="-122"/>
                <a:cs typeface="Calibri" pitchFamily="34" charset="-120"/>
              </a:rPr>
              <a:t>Talk to us</a:t>
            </a:r>
            <a:endParaRPr lang="en-US" sz="2800" dirty="0"/>
          </a:p>
        </p:txBody>
      </p:sp>
      <p:sp>
        <p:nvSpPr>
          <p:cNvPr id="37" name="Shape 35"/>
          <p:cNvSpPr/>
          <p:nvPr/>
        </p:nvSpPr>
        <p:spPr>
          <a:xfrm>
            <a:off x="8503920" y="4599432"/>
            <a:ext cx="109728" cy="109728"/>
          </a:xfrm>
          <a:prstGeom prst="ellipse">
            <a:avLst/>
          </a:prstGeom>
          <a:solidFill>
            <a:srgbClr val="3FB8AF"/>
          </a:solidFill>
          <a:ln/>
        </p:spPr>
      </p:sp>
      <p:sp>
        <p:nvSpPr>
          <p:cNvPr id="38" name="Text 36"/>
          <p:cNvSpPr/>
          <p:nvPr/>
        </p:nvSpPr>
        <p:spPr>
          <a:xfrm>
            <a:off x="8686800" y="4526280"/>
            <a:ext cx="3017520" cy="2743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Volume-based pricing, typically under $15 / report</a:t>
            </a:r>
            <a:endParaRPr lang="en-US" sz="1100" dirty="0"/>
          </a:p>
        </p:txBody>
      </p:sp>
      <p:sp>
        <p:nvSpPr>
          <p:cNvPr id="39" name="Shape 37"/>
          <p:cNvSpPr/>
          <p:nvPr/>
        </p:nvSpPr>
        <p:spPr>
          <a:xfrm>
            <a:off x="8503920" y="4892040"/>
            <a:ext cx="109728" cy="109728"/>
          </a:xfrm>
          <a:prstGeom prst="ellipse">
            <a:avLst/>
          </a:prstGeom>
          <a:solidFill>
            <a:srgbClr val="3FB8AF"/>
          </a:solidFill>
          <a:ln/>
        </p:spPr>
      </p:sp>
      <p:sp>
        <p:nvSpPr>
          <p:cNvPr id="40" name="Text 38"/>
          <p:cNvSpPr/>
          <p:nvPr/>
        </p:nvSpPr>
        <p:spPr>
          <a:xfrm>
            <a:off x="8686800" y="4818888"/>
            <a:ext cx="3017520" cy="2743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Unlimited reports + unlimited seats</a:t>
            </a:r>
            <a:endParaRPr lang="en-US" sz="1100" dirty="0"/>
          </a:p>
        </p:txBody>
      </p:sp>
      <p:sp>
        <p:nvSpPr>
          <p:cNvPr id="41" name="Shape 39"/>
          <p:cNvSpPr/>
          <p:nvPr/>
        </p:nvSpPr>
        <p:spPr>
          <a:xfrm>
            <a:off x="8503920" y="5184648"/>
            <a:ext cx="109728" cy="109728"/>
          </a:xfrm>
          <a:prstGeom prst="ellipse">
            <a:avLst/>
          </a:prstGeom>
          <a:solidFill>
            <a:srgbClr val="3FB8AF"/>
          </a:solidFill>
          <a:ln/>
        </p:spPr>
      </p:sp>
      <p:sp>
        <p:nvSpPr>
          <p:cNvPr id="42" name="Text 40"/>
          <p:cNvSpPr/>
          <p:nvPr/>
        </p:nvSpPr>
        <p:spPr>
          <a:xfrm>
            <a:off x="8686800" y="5111496"/>
            <a:ext cx="3017520" cy="2743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MLS / dotloop / Skyslope integration</a:t>
            </a:r>
            <a:endParaRPr lang="en-US" sz="1100" dirty="0"/>
          </a:p>
        </p:txBody>
      </p:sp>
      <p:sp>
        <p:nvSpPr>
          <p:cNvPr id="43" name="Shape 41"/>
          <p:cNvSpPr/>
          <p:nvPr/>
        </p:nvSpPr>
        <p:spPr>
          <a:xfrm>
            <a:off x="8503920" y="5477256"/>
            <a:ext cx="109728" cy="109728"/>
          </a:xfrm>
          <a:prstGeom prst="ellipse">
            <a:avLst/>
          </a:prstGeom>
          <a:solidFill>
            <a:srgbClr val="3FB8AF"/>
          </a:solidFill>
          <a:ln/>
        </p:spPr>
      </p:sp>
      <p:sp>
        <p:nvSpPr>
          <p:cNvPr id="44" name="Text 42"/>
          <p:cNvSpPr/>
          <p:nvPr/>
        </p:nvSpPr>
        <p:spPr>
          <a:xfrm>
            <a:off x="8686800" y="5404104"/>
            <a:ext cx="3017520" cy="2743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SOC 2 attestation roadmap</a:t>
            </a:r>
            <a:endParaRPr lang="en-US" sz="1100" dirty="0"/>
          </a:p>
        </p:txBody>
      </p:sp>
      <p:sp>
        <p:nvSpPr>
          <p:cNvPr id="45" name="Shape 43"/>
          <p:cNvSpPr/>
          <p:nvPr/>
        </p:nvSpPr>
        <p:spPr>
          <a:xfrm>
            <a:off x="8503920" y="5769864"/>
            <a:ext cx="109728" cy="109728"/>
          </a:xfrm>
          <a:prstGeom prst="ellipse">
            <a:avLst/>
          </a:prstGeom>
          <a:solidFill>
            <a:srgbClr val="3FB8AF"/>
          </a:solidFill>
          <a:ln/>
        </p:spPr>
      </p:sp>
      <p:sp>
        <p:nvSpPr>
          <p:cNvPr id="46" name="Text 44"/>
          <p:cNvSpPr/>
          <p:nvPr/>
        </p:nvSpPr>
        <p:spPr>
          <a:xfrm>
            <a:off x="8686800" y="5696712"/>
            <a:ext cx="3017520" cy="274320"/>
          </a:xfrm>
          <a:prstGeom prst="rect">
            <a:avLst/>
          </a:prstGeom>
          <a:noFill/>
          <a:ln/>
        </p:spPr>
        <p:txBody>
          <a:bodyPr wrap="square" lIns="0" tIns="0" rIns="0" bIns="0" rtlCol="0" anchor="ctr"/>
          <a:lstStyle/>
          <a:p>
            <a:pPr indent="0" marL="0">
              <a:buNone/>
            </a:pPr>
            <a:r>
              <a:rPr lang="en-US" sz="1100" dirty="0">
                <a:solidFill>
                  <a:srgbClr val="334155"/>
                </a:solidFill>
                <a:latin typeface="Calibri" pitchFamily="34" charset="0"/>
                <a:ea typeface="Calibri" pitchFamily="34" charset="-122"/>
                <a:cs typeface="Calibri" pitchFamily="34" charset="-120"/>
              </a:rPr>
              <a:t>Quarterly business review</a:t>
            </a:r>
            <a:endParaRPr lang="en-US" sz="1100" dirty="0"/>
          </a:p>
        </p:txBody>
      </p:sp>
      <p:sp>
        <p:nvSpPr>
          <p:cNvPr id="47" name="Text 45"/>
          <p:cNvSpPr/>
          <p:nvPr/>
        </p:nvSpPr>
        <p:spPr>
          <a:xfrm>
            <a:off x="10728655" y="6446520"/>
            <a:ext cx="1280160" cy="274320"/>
          </a:xfrm>
          <a:prstGeom prst="rect">
            <a:avLst/>
          </a:prstGeom>
          <a:noFill/>
          <a:ln/>
        </p:spPr>
        <p:txBody>
          <a:bodyPr wrap="square" lIns="0" tIns="0" rIns="0" bIns="0" rtlCol="0" anchor="ctr"/>
          <a:lstStyle/>
          <a:p>
            <a:pPr algn="r" indent="0" marL="0">
              <a:buNone/>
            </a:pPr>
            <a:r>
              <a:rPr lang="en-US" sz="1200" b="1" dirty="0">
                <a:solidFill>
                  <a:srgbClr val="E85D75"/>
                </a:solidFill>
                <a:latin typeface="Calibri" pitchFamily="34" charset="0"/>
                <a:ea typeface="Calibri" pitchFamily="34" charset="-122"/>
                <a:cs typeface="Calibri" pitchFamily="34" charset="-120"/>
              </a:rPr>
              <a:t>veroax</a:t>
            </a:r>
            <a:pPr algn="r" indent="0" marL="0">
              <a:buNone/>
            </a:pPr>
            <a:r>
              <a:rPr lang="en-US" sz="1200" b="1" dirty="0">
                <a:solidFill>
                  <a:srgbClr val="3FB8AF"/>
                </a:solidFill>
                <a:latin typeface="Calibri" pitchFamily="34" charset="0"/>
                <a:ea typeface="Calibri" pitchFamily="34" charset="-122"/>
                <a:cs typeface="Calibri" pitchFamily="34" charset="-120"/>
              </a:rPr>
              <a:t> •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2"/>
        </a:solidFill>
      </p:bgPr>
    </p:bg>
    <p:spTree>
      <p:nvGrpSpPr>
        <p:cNvPr id="1" name=""/>
        <p:cNvGrpSpPr/>
        <p:nvPr/>
      </p:nvGrpSpPr>
      <p:grpSpPr>
        <a:xfrm>
          <a:off x="0" y="0"/>
          <a:ext cx="0" cy="0"/>
          <a:chOff x="0" y="0"/>
          <a:chExt cx="0" cy="0"/>
        </a:xfrm>
      </p:grpSpPr>
      <p:sp>
        <p:nvSpPr>
          <p:cNvPr id="2" name="Text 0"/>
          <p:cNvSpPr/>
          <p:nvPr/>
        </p:nvSpPr>
        <p:spPr>
          <a:xfrm>
            <a:off x="457200" y="365760"/>
            <a:ext cx="1097280" cy="228600"/>
          </a:xfrm>
          <a:prstGeom prst="rect">
            <a:avLst/>
          </a:prstGeom>
          <a:noFill/>
          <a:ln/>
        </p:spPr>
        <p:txBody>
          <a:bodyPr wrap="square" lIns="0" tIns="0" rIns="0" bIns="0"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09 / 12</a:t>
            </a:r>
            <a:endParaRPr lang="en-US" sz="900" dirty="0"/>
          </a:p>
        </p:txBody>
      </p:sp>
      <p:sp>
        <p:nvSpPr>
          <p:cNvPr id="3" name="Text 1"/>
          <p:cNvSpPr/>
          <p:nvPr/>
        </p:nvSpPr>
        <p:spPr>
          <a:xfrm>
            <a:off x="457200" y="777240"/>
            <a:ext cx="10972800" cy="320040"/>
          </a:xfrm>
          <a:prstGeom prst="rect">
            <a:avLst/>
          </a:prstGeom>
          <a:noFill/>
          <a:ln/>
        </p:spPr>
        <p:txBody>
          <a:bodyPr wrap="square" lIns="0" tIns="0" rIns="0" bIns="0" rtlCol="0" anchor="ctr"/>
          <a:lstStyle/>
          <a:p>
            <a:pPr indent="0" marL="0">
              <a:buNone/>
            </a:pPr>
            <a:r>
              <a:rPr lang="en-US" sz="1100" b="1" spc="500" kern="0" dirty="0">
                <a:solidFill>
                  <a:srgbClr val="E85D75"/>
                </a:solidFill>
                <a:latin typeface="Calibri" pitchFamily="34" charset="0"/>
                <a:ea typeface="Calibri" pitchFamily="34" charset="-122"/>
                <a:cs typeface="Calibri" pitchFamily="34" charset="-120"/>
              </a:rPr>
              <a:t>ROI</a:t>
            </a:r>
            <a:endParaRPr lang="en-US" sz="1100" dirty="0"/>
          </a:p>
        </p:txBody>
      </p:sp>
      <p:sp>
        <p:nvSpPr>
          <p:cNvPr id="4" name="Text 2"/>
          <p:cNvSpPr/>
          <p:nvPr/>
        </p:nvSpPr>
        <p:spPr>
          <a:xfrm>
            <a:off x="457200" y="1143000"/>
            <a:ext cx="11247120" cy="914400"/>
          </a:xfrm>
          <a:prstGeom prst="rect">
            <a:avLst/>
          </a:prstGeom>
          <a:noFill/>
          <a:ln/>
        </p:spPr>
        <p:txBody>
          <a:bodyPr wrap="square" lIns="0" tIns="0" rIns="0" bIns="0" rtlCol="0" anchor="ctr"/>
          <a:lstStyle/>
          <a:p>
            <a:pPr indent="0" marL="0">
              <a:lnSpc>
                <a:spcPct val="110000"/>
              </a:lnSpc>
              <a:buNone/>
            </a:pPr>
            <a:r>
              <a:rPr lang="en-US" sz="3200" b="1" dirty="0">
                <a:solidFill>
                  <a:srgbClr val="0F172A"/>
                </a:solidFill>
                <a:latin typeface="Calibri" pitchFamily="34" charset="0"/>
                <a:ea typeface="Calibri" pitchFamily="34" charset="-122"/>
                <a:cs typeface="Calibri" pitchFamily="34" charset="-120"/>
              </a:rPr>
              <a:t>The math for a 15-agent office.</a:t>
            </a:r>
            <a:endParaRPr lang="en-US" sz="3200" dirty="0"/>
          </a:p>
        </p:txBody>
      </p:sp>
      <p:sp>
        <p:nvSpPr>
          <p:cNvPr id="5" name="Text 3"/>
          <p:cNvSpPr/>
          <p:nvPr/>
        </p:nvSpPr>
        <p:spPr>
          <a:xfrm>
            <a:off x="457200" y="2103120"/>
            <a:ext cx="11247120" cy="45720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Assumes each agent runs 2 disclosure-eligible deals per month and the brokerage adopts the Brokerage tier.</a:t>
            </a:r>
            <a:endParaRPr lang="en-US" sz="1500" dirty="0"/>
          </a:p>
        </p:txBody>
      </p:sp>
      <p:sp>
        <p:nvSpPr>
          <p:cNvPr id="6" name="Shape 4"/>
          <p:cNvSpPr/>
          <p:nvPr/>
        </p:nvSpPr>
        <p:spPr>
          <a:xfrm>
            <a:off x="457200" y="2788920"/>
            <a:ext cx="6583680" cy="274320"/>
          </a:xfrm>
          <a:prstGeom prst="rect">
            <a:avLst/>
          </a:prstGeom>
          <a:solidFill>
            <a:srgbClr val="FFFFFF"/>
          </a:solidFill>
          <a:ln/>
        </p:spPr>
      </p:sp>
      <p:sp>
        <p:nvSpPr>
          <p:cNvPr id="7" name="Text 5"/>
          <p:cNvSpPr/>
          <p:nvPr/>
        </p:nvSpPr>
        <p:spPr>
          <a:xfrm>
            <a:off x="594360" y="2816352"/>
            <a:ext cx="4206240" cy="2286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Agents</a:t>
            </a:r>
            <a:endParaRPr lang="en-US" sz="1200" dirty="0"/>
          </a:p>
        </p:txBody>
      </p:sp>
      <p:sp>
        <p:nvSpPr>
          <p:cNvPr id="8" name="Text 6"/>
          <p:cNvSpPr/>
          <p:nvPr/>
        </p:nvSpPr>
        <p:spPr>
          <a:xfrm>
            <a:off x="4937760" y="2816352"/>
            <a:ext cx="2011680" cy="228600"/>
          </a:xfrm>
          <a:prstGeom prst="rect">
            <a:avLst/>
          </a:prstGeom>
          <a:noFill/>
          <a:ln/>
        </p:spPr>
        <p:txBody>
          <a:bodyPr wrap="square" lIns="0" tIns="0" rIns="0" bIns="0" rtlCol="0" anchor="ctr"/>
          <a:lstStyle/>
          <a:p>
            <a:pPr algn="r" indent="0" marL="0">
              <a:buNone/>
            </a:pPr>
            <a:r>
              <a:rPr lang="en-US" sz="1200" b="1" dirty="0">
                <a:solidFill>
                  <a:srgbClr val="0F172A"/>
                </a:solidFill>
                <a:latin typeface="Calibri" pitchFamily="34" charset="0"/>
                <a:ea typeface="Calibri" pitchFamily="34" charset="-122"/>
                <a:cs typeface="Calibri" pitchFamily="34" charset="-120"/>
              </a:rPr>
              <a:t>15</a:t>
            </a:r>
            <a:endParaRPr lang="en-US" sz="1200" dirty="0"/>
          </a:p>
        </p:txBody>
      </p:sp>
      <p:sp>
        <p:nvSpPr>
          <p:cNvPr id="9" name="Shape 7"/>
          <p:cNvSpPr/>
          <p:nvPr/>
        </p:nvSpPr>
        <p:spPr>
          <a:xfrm>
            <a:off x="457200" y="3081528"/>
            <a:ext cx="6583680" cy="274320"/>
          </a:xfrm>
          <a:prstGeom prst="rect">
            <a:avLst/>
          </a:prstGeom>
          <a:solidFill>
            <a:srgbClr val="F1F5F9"/>
          </a:solidFill>
          <a:ln/>
        </p:spPr>
      </p:sp>
      <p:sp>
        <p:nvSpPr>
          <p:cNvPr id="10" name="Text 8"/>
          <p:cNvSpPr/>
          <p:nvPr/>
        </p:nvSpPr>
        <p:spPr>
          <a:xfrm>
            <a:off x="594360" y="3108960"/>
            <a:ext cx="4206240" cy="2286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Deals per agent per month</a:t>
            </a:r>
            <a:endParaRPr lang="en-US" sz="1200" dirty="0"/>
          </a:p>
        </p:txBody>
      </p:sp>
      <p:sp>
        <p:nvSpPr>
          <p:cNvPr id="11" name="Text 9"/>
          <p:cNvSpPr/>
          <p:nvPr/>
        </p:nvSpPr>
        <p:spPr>
          <a:xfrm>
            <a:off x="4937760" y="3108960"/>
            <a:ext cx="2011680" cy="228600"/>
          </a:xfrm>
          <a:prstGeom prst="rect">
            <a:avLst/>
          </a:prstGeom>
          <a:noFill/>
          <a:ln/>
        </p:spPr>
        <p:txBody>
          <a:bodyPr wrap="square" lIns="0" tIns="0" rIns="0" bIns="0" rtlCol="0" anchor="ctr"/>
          <a:lstStyle/>
          <a:p>
            <a:pPr algn="r" indent="0" marL="0">
              <a:buNone/>
            </a:pPr>
            <a:r>
              <a:rPr lang="en-US" sz="1200" b="1" dirty="0">
                <a:solidFill>
                  <a:srgbClr val="0F172A"/>
                </a:solidFill>
                <a:latin typeface="Calibri" pitchFamily="34" charset="0"/>
                <a:ea typeface="Calibri" pitchFamily="34" charset="-122"/>
                <a:cs typeface="Calibri" pitchFamily="34" charset="-120"/>
              </a:rPr>
              <a:t>2</a:t>
            </a:r>
            <a:endParaRPr lang="en-US" sz="1200" dirty="0"/>
          </a:p>
        </p:txBody>
      </p:sp>
      <p:sp>
        <p:nvSpPr>
          <p:cNvPr id="12" name="Shape 10"/>
          <p:cNvSpPr/>
          <p:nvPr/>
        </p:nvSpPr>
        <p:spPr>
          <a:xfrm>
            <a:off x="457200" y="3374136"/>
            <a:ext cx="6583680" cy="274320"/>
          </a:xfrm>
          <a:prstGeom prst="rect">
            <a:avLst/>
          </a:prstGeom>
          <a:solidFill>
            <a:srgbClr val="FFFFFF"/>
          </a:solidFill>
          <a:ln/>
        </p:spPr>
      </p:sp>
      <p:sp>
        <p:nvSpPr>
          <p:cNvPr id="13" name="Text 11"/>
          <p:cNvSpPr/>
          <p:nvPr/>
        </p:nvSpPr>
        <p:spPr>
          <a:xfrm>
            <a:off x="594360" y="3401568"/>
            <a:ext cx="4206240" cy="2286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Disclosure packages per month</a:t>
            </a:r>
            <a:endParaRPr lang="en-US" sz="1200" dirty="0"/>
          </a:p>
        </p:txBody>
      </p:sp>
      <p:sp>
        <p:nvSpPr>
          <p:cNvPr id="14" name="Text 12"/>
          <p:cNvSpPr/>
          <p:nvPr/>
        </p:nvSpPr>
        <p:spPr>
          <a:xfrm>
            <a:off x="4937760" y="3401568"/>
            <a:ext cx="2011680" cy="228600"/>
          </a:xfrm>
          <a:prstGeom prst="rect">
            <a:avLst/>
          </a:prstGeom>
          <a:noFill/>
          <a:ln/>
        </p:spPr>
        <p:txBody>
          <a:bodyPr wrap="square" lIns="0" tIns="0" rIns="0" bIns="0" rtlCol="0" anchor="ctr"/>
          <a:lstStyle/>
          <a:p>
            <a:pPr algn="r" indent="0" marL="0">
              <a:buNone/>
            </a:pPr>
            <a:r>
              <a:rPr lang="en-US" sz="1200" b="1" dirty="0">
                <a:solidFill>
                  <a:srgbClr val="0F172A"/>
                </a:solidFill>
                <a:latin typeface="Calibri" pitchFamily="34" charset="0"/>
                <a:ea typeface="Calibri" pitchFamily="34" charset="-122"/>
                <a:cs typeface="Calibri" pitchFamily="34" charset="-120"/>
              </a:rPr>
              <a:t>30</a:t>
            </a:r>
            <a:endParaRPr lang="en-US" sz="1200" dirty="0"/>
          </a:p>
        </p:txBody>
      </p:sp>
      <p:sp>
        <p:nvSpPr>
          <p:cNvPr id="15" name="Shape 13"/>
          <p:cNvSpPr/>
          <p:nvPr/>
        </p:nvSpPr>
        <p:spPr>
          <a:xfrm>
            <a:off x="457200" y="3666744"/>
            <a:ext cx="6583680" cy="274320"/>
          </a:xfrm>
          <a:prstGeom prst="rect">
            <a:avLst/>
          </a:prstGeom>
          <a:solidFill>
            <a:srgbClr val="F1F5F9"/>
          </a:solidFill>
          <a:ln/>
        </p:spPr>
      </p:sp>
      <p:sp>
        <p:nvSpPr>
          <p:cNvPr id="16" name="Text 14"/>
          <p:cNvSpPr/>
          <p:nvPr/>
        </p:nvSpPr>
        <p:spPr>
          <a:xfrm>
            <a:off x="594360" y="3694176"/>
            <a:ext cx="4206240" cy="2286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Agent time saved per package (avg)</a:t>
            </a:r>
            <a:endParaRPr lang="en-US" sz="1200" dirty="0"/>
          </a:p>
        </p:txBody>
      </p:sp>
      <p:sp>
        <p:nvSpPr>
          <p:cNvPr id="17" name="Text 15"/>
          <p:cNvSpPr/>
          <p:nvPr/>
        </p:nvSpPr>
        <p:spPr>
          <a:xfrm>
            <a:off x="4937760" y="3694176"/>
            <a:ext cx="2011680" cy="228600"/>
          </a:xfrm>
          <a:prstGeom prst="rect">
            <a:avLst/>
          </a:prstGeom>
          <a:noFill/>
          <a:ln/>
        </p:spPr>
        <p:txBody>
          <a:bodyPr wrap="square" lIns="0" tIns="0" rIns="0" bIns="0" rtlCol="0" anchor="ctr"/>
          <a:lstStyle/>
          <a:p>
            <a:pPr algn="r" indent="0" marL="0">
              <a:buNone/>
            </a:pPr>
            <a:r>
              <a:rPr lang="en-US" sz="1200" b="1" dirty="0">
                <a:solidFill>
                  <a:srgbClr val="0F172A"/>
                </a:solidFill>
                <a:latin typeface="Calibri" pitchFamily="34" charset="0"/>
                <a:ea typeface="Calibri" pitchFamily="34" charset="-122"/>
                <a:cs typeface="Calibri" pitchFamily="34" charset="-120"/>
              </a:rPr>
              <a:t>3 hours</a:t>
            </a:r>
            <a:endParaRPr lang="en-US" sz="1200" dirty="0"/>
          </a:p>
        </p:txBody>
      </p:sp>
      <p:sp>
        <p:nvSpPr>
          <p:cNvPr id="18" name="Shape 16"/>
          <p:cNvSpPr/>
          <p:nvPr/>
        </p:nvSpPr>
        <p:spPr>
          <a:xfrm>
            <a:off x="457200" y="3959352"/>
            <a:ext cx="6583680" cy="274320"/>
          </a:xfrm>
          <a:prstGeom prst="rect">
            <a:avLst/>
          </a:prstGeom>
          <a:solidFill>
            <a:srgbClr val="FFFFFF"/>
          </a:solidFill>
          <a:ln/>
        </p:spPr>
      </p:sp>
      <p:sp>
        <p:nvSpPr>
          <p:cNvPr id="19" name="Text 17"/>
          <p:cNvSpPr/>
          <p:nvPr/>
        </p:nvSpPr>
        <p:spPr>
          <a:xfrm>
            <a:off x="594360" y="3986784"/>
            <a:ext cx="4206240" cy="2286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Total time saved per month</a:t>
            </a:r>
            <a:endParaRPr lang="en-US" sz="1200" dirty="0"/>
          </a:p>
        </p:txBody>
      </p:sp>
      <p:sp>
        <p:nvSpPr>
          <p:cNvPr id="20" name="Text 18"/>
          <p:cNvSpPr/>
          <p:nvPr/>
        </p:nvSpPr>
        <p:spPr>
          <a:xfrm>
            <a:off x="4937760" y="3986784"/>
            <a:ext cx="2011680" cy="228600"/>
          </a:xfrm>
          <a:prstGeom prst="rect">
            <a:avLst/>
          </a:prstGeom>
          <a:noFill/>
          <a:ln/>
        </p:spPr>
        <p:txBody>
          <a:bodyPr wrap="square" lIns="0" tIns="0" rIns="0" bIns="0" rtlCol="0" anchor="ctr"/>
          <a:lstStyle/>
          <a:p>
            <a:pPr algn="r" indent="0" marL="0">
              <a:buNone/>
            </a:pPr>
            <a:r>
              <a:rPr lang="en-US" sz="1200" b="1" dirty="0">
                <a:solidFill>
                  <a:srgbClr val="0F172A"/>
                </a:solidFill>
                <a:latin typeface="Calibri" pitchFamily="34" charset="0"/>
                <a:ea typeface="Calibri" pitchFamily="34" charset="-122"/>
                <a:cs typeface="Calibri" pitchFamily="34" charset="-120"/>
              </a:rPr>
              <a:t>90 hours</a:t>
            </a:r>
            <a:endParaRPr lang="en-US" sz="1200" dirty="0"/>
          </a:p>
        </p:txBody>
      </p:sp>
      <p:sp>
        <p:nvSpPr>
          <p:cNvPr id="21" name="Shape 19"/>
          <p:cNvSpPr/>
          <p:nvPr/>
        </p:nvSpPr>
        <p:spPr>
          <a:xfrm>
            <a:off x="457200" y="4251960"/>
            <a:ext cx="6583680" cy="274320"/>
          </a:xfrm>
          <a:prstGeom prst="rect">
            <a:avLst/>
          </a:prstGeom>
          <a:solidFill>
            <a:srgbClr val="F1F5F9"/>
          </a:solidFill>
          <a:ln/>
        </p:spPr>
      </p:sp>
      <p:sp>
        <p:nvSpPr>
          <p:cNvPr id="22" name="Text 20"/>
          <p:cNvSpPr/>
          <p:nvPr/>
        </p:nvSpPr>
        <p:spPr>
          <a:xfrm>
            <a:off x="594360" y="4279392"/>
            <a:ext cx="4206240" cy="2286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Loaded agent hourly value</a:t>
            </a:r>
            <a:endParaRPr lang="en-US" sz="1200" dirty="0"/>
          </a:p>
        </p:txBody>
      </p:sp>
      <p:sp>
        <p:nvSpPr>
          <p:cNvPr id="23" name="Text 21"/>
          <p:cNvSpPr/>
          <p:nvPr/>
        </p:nvSpPr>
        <p:spPr>
          <a:xfrm>
            <a:off x="4937760" y="4279392"/>
            <a:ext cx="2011680" cy="228600"/>
          </a:xfrm>
          <a:prstGeom prst="rect">
            <a:avLst/>
          </a:prstGeom>
          <a:noFill/>
          <a:ln/>
        </p:spPr>
        <p:txBody>
          <a:bodyPr wrap="square" lIns="0" tIns="0" rIns="0" bIns="0" rtlCol="0" anchor="ctr"/>
          <a:lstStyle/>
          <a:p>
            <a:pPr algn="r" indent="0" marL="0">
              <a:buNone/>
            </a:pPr>
            <a:r>
              <a:rPr lang="en-US" sz="1200" b="1" dirty="0">
                <a:solidFill>
                  <a:srgbClr val="0F172A"/>
                </a:solidFill>
                <a:latin typeface="Calibri" pitchFamily="34" charset="0"/>
                <a:ea typeface="Calibri" pitchFamily="34" charset="-122"/>
                <a:cs typeface="Calibri" pitchFamily="34" charset="-120"/>
              </a:rPr>
              <a:t>$75 / hr</a:t>
            </a:r>
            <a:endParaRPr lang="en-US" sz="1200" dirty="0"/>
          </a:p>
        </p:txBody>
      </p:sp>
      <p:sp>
        <p:nvSpPr>
          <p:cNvPr id="24" name="Shape 22"/>
          <p:cNvSpPr/>
          <p:nvPr/>
        </p:nvSpPr>
        <p:spPr>
          <a:xfrm>
            <a:off x="457200" y="4544568"/>
            <a:ext cx="6583680" cy="274320"/>
          </a:xfrm>
          <a:prstGeom prst="rect">
            <a:avLst/>
          </a:prstGeom>
          <a:solidFill>
            <a:srgbClr val="FFFFFF"/>
          </a:solidFill>
          <a:ln/>
        </p:spPr>
      </p:sp>
      <p:sp>
        <p:nvSpPr>
          <p:cNvPr id="25" name="Text 23"/>
          <p:cNvSpPr/>
          <p:nvPr/>
        </p:nvSpPr>
        <p:spPr>
          <a:xfrm>
            <a:off x="594360" y="4572000"/>
            <a:ext cx="4206240" cy="2286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Time-value saved per month</a:t>
            </a:r>
            <a:endParaRPr lang="en-US" sz="1200" dirty="0"/>
          </a:p>
        </p:txBody>
      </p:sp>
      <p:sp>
        <p:nvSpPr>
          <p:cNvPr id="26" name="Text 24"/>
          <p:cNvSpPr/>
          <p:nvPr/>
        </p:nvSpPr>
        <p:spPr>
          <a:xfrm>
            <a:off x="4937760" y="4572000"/>
            <a:ext cx="2011680" cy="228600"/>
          </a:xfrm>
          <a:prstGeom prst="rect">
            <a:avLst/>
          </a:prstGeom>
          <a:noFill/>
          <a:ln/>
        </p:spPr>
        <p:txBody>
          <a:bodyPr wrap="square" lIns="0" tIns="0" rIns="0" bIns="0" rtlCol="0" anchor="ctr"/>
          <a:lstStyle/>
          <a:p>
            <a:pPr algn="r" indent="0" marL="0">
              <a:buNone/>
            </a:pPr>
            <a:r>
              <a:rPr lang="en-US" sz="1200" b="1" dirty="0">
                <a:solidFill>
                  <a:srgbClr val="0F172A"/>
                </a:solidFill>
                <a:latin typeface="Calibri" pitchFamily="34" charset="0"/>
                <a:ea typeface="Calibri" pitchFamily="34" charset="-122"/>
                <a:cs typeface="Calibri" pitchFamily="34" charset="-120"/>
              </a:rPr>
              <a:t>$6,750</a:t>
            </a:r>
            <a:endParaRPr lang="en-US" sz="1200" dirty="0"/>
          </a:p>
        </p:txBody>
      </p:sp>
      <p:sp>
        <p:nvSpPr>
          <p:cNvPr id="27" name="Shape 25"/>
          <p:cNvSpPr/>
          <p:nvPr/>
        </p:nvSpPr>
        <p:spPr>
          <a:xfrm>
            <a:off x="457200" y="4837176"/>
            <a:ext cx="6583680" cy="274320"/>
          </a:xfrm>
          <a:prstGeom prst="rect">
            <a:avLst/>
          </a:prstGeom>
          <a:solidFill>
            <a:srgbClr val="F1F5F9"/>
          </a:solidFill>
          <a:ln/>
        </p:spPr>
      </p:sp>
      <p:sp>
        <p:nvSpPr>
          <p:cNvPr id="28" name="Text 26"/>
          <p:cNvSpPr/>
          <p:nvPr/>
        </p:nvSpPr>
        <p:spPr>
          <a:xfrm>
            <a:off x="594360" y="4864608"/>
            <a:ext cx="4206240" cy="2286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Veroax Brokerage plan</a:t>
            </a:r>
            <a:endParaRPr lang="en-US" sz="1200" dirty="0"/>
          </a:p>
        </p:txBody>
      </p:sp>
      <p:sp>
        <p:nvSpPr>
          <p:cNvPr id="29" name="Text 27"/>
          <p:cNvSpPr/>
          <p:nvPr/>
        </p:nvSpPr>
        <p:spPr>
          <a:xfrm>
            <a:off x="4937760" y="4864608"/>
            <a:ext cx="2011680" cy="228600"/>
          </a:xfrm>
          <a:prstGeom prst="rect">
            <a:avLst/>
          </a:prstGeom>
          <a:noFill/>
          <a:ln/>
        </p:spPr>
        <p:txBody>
          <a:bodyPr wrap="square" lIns="0" tIns="0" rIns="0" bIns="0" rtlCol="0" anchor="ctr"/>
          <a:lstStyle/>
          <a:p>
            <a:pPr algn="r" indent="0" marL="0">
              <a:buNone/>
            </a:pPr>
            <a:r>
              <a:rPr lang="en-US" sz="1200" b="1" dirty="0">
                <a:solidFill>
                  <a:srgbClr val="0F172A"/>
                </a:solidFill>
                <a:latin typeface="Calibri" pitchFamily="34" charset="0"/>
                <a:ea typeface="Calibri" pitchFamily="34" charset="-122"/>
                <a:cs typeface="Calibri" pitchFamily="34" charset="-120"/>
              </a:rPr>
              <a:t>$449 / mo</a:t>
            </a:r>
            <a:endParaRPr lang="en-US" sz="1200" dirty="0"/>
          </a:p>
        </p:txBody>
      </p:sp>
      <p:sp>
        <p:nvSpPr>
          <p:cNvPr id="30" name="Shape 28"/>
          <p:cNvSpPr/>
          <p:nvPr/>
        </p:nvSpPr>
        <p:spPr>
          <a:xfrm>
            <a:off x="457200" y="5129784"/>
            <a:ext cx="6583680" cy="274320"/>
          </a:xfrm>
          <a:prstGeom prst="rect">
            <a:avLst/>
          </a:prstGeom>
          <a:solidFill>
            <a:srgbClr val="FFFFFF"/>
          </a:solidFill>
          <a:ln/>
        </p:spPr>
      </p:sp>
      <p:sp>
        <p:nvSpPr>
          <p:cNvPr id="31" name="Text 29"/>
          <p:cNvSpPr/>
          <p:nvPr/>
        </p:nvSpPr>
        <p:spPr>
          <a:xfrm>
            <a:off x="594360" y="5157216"/>
            <a:ext cx="4206240" cy="228600"/>
          </a:xfrm>
          <a:prstGeom prst="rect">
            <a:avLst/>
          </a:prstGeom>
          <a:noFill/>
          <a:ln/>
        </p:spPr>
        <p:txBody>
          <a:bodyPr wrap="square" lIns="0" tIns="0" rIns="0" bIns="0" rtlCol="0" anchor="ctr"/>
          <a:lstStyle/>
          <a:p>
            <a:pPr indent="0" marL="0">
              <a:buNone/>
            </a:pPr>
            <a:r>
              <a:rPr lang="en-US" sz="1200" dirty="0">
                <a:solidFill>
                  <a:srgbClr val="0F172A"/>
                </a:solidFill>
                <a:latin typeface="Calibri" pitchFamily="34" charset="0"/>
                <a:ea typeface="Calibri" pitchFamily="34" charset="-122"/>
                <a:cs typeface="Calibri" pitchFamily="34" charset="-120"/>
              </a:rPr>
              <a:t>Overage at $15 / report (none in this tier)</a:t>
            </a:r>
            <a:endParaRPr lang="en-US" sz="1200" dirty="0"/>
          </a:p>
        </p:txBody>
      </p:sp>
      <p:sp>
        <p:nvSpPr>
          <p:cNvPr id="32" name="Text 30"/>
          <p:cNvSpPr/>
          <p:nvPr/>
        </p:nvSpPr>
        <p:spPr>
          <a:xfrm>
            <a:off x="4937760" y="5157216"/>
            <a:ext cx="2011680" cy="228600"/>
          </a:xfrm>
          <a:prstGeom prst="rect">
            <a:avLst/>
          </a:prstGeom>
          <a:noFill/>
          <a:ln/>
        </p:spPr>
        <p:txBody>
          <a:bodyPr wrap="square" lIns="0" tIns="0" rIns="0" bIns="0" rtlCol="0" anchor="ctr"/>
          <a:lstStyle/>
          <a:p>
            <a:pPr algn="r" indent="0" marL="0">
              <a:buNone/>
            </a:pPr>
            <a:r>
              <a:rPr lang="en-US" sz="1200" b="1" dirty="0">
                <a:solidFill>
                  <a:srgbClr val="0F172A"/>
                </a:solidFill>
                <a:latin typeface="Calibri" pitchFamily="34" charset="0"/>
                <a:ea typeface="Calibri" pitchFamily="34" charset="-122"/>
                <a:cs typeface="Calibri" pitchFamily="34" charset="-120"/>
              </a:rPr>
              <a:t>$0</a:t>
            </a:r>
            <a:endParaRPr lang="en-US" sz="1200" dirty="0"/>
          </a:p>
        </p:txBody>
      </p:sp>
      <p:sp>
        <p:nvSpPr>
          <p:cNvPr id="33" name="Shape 31"/>
          <p:cNvSpPr/>
          <p:nvPr/>
        </p:nvSpPr>
        <p:spPr>
          <a:xfrm>
            <a:off x="457200" y="5422392"/>
            <a:ext cx="6583680" cy="274320"/>
          </a:xfrm>
          <a:prstGeom prst="rect">
            <a:avLst/>
          </a:prstGeom>
          <a:solidFill>
            <a:srgbClr val="F1F5F9"/>
          </a:solidFill>
          <a:ln/>
        </p:spPr>
      </p:sp>
      <p:sp>
        <p:nvSpPr>
          <p:cNvPr id="34" name="Text 32"/>
          <p:cNvSpPr/>
          <p:nvPr/>
        </p:nvSpPr>
        <p:spPr>
          <a:xfrm>
            <a:off x="594360" y="5449824"/>
            <a:ext cx="4206240" cy="2286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Net monthly savings</a:t>
            </a:r>
            <a:endParaRPr lang="en-US" sz="1200" dirty="0"/>
          </a:p>
        </p:txBody>
      </p:sp>
      <p:sp>
        <p:nvSpPr>
          <p:cNvPr id="35" name="Text 33"/>
          <p:cNvSpPr/>
          <p:nvPr/>
        </p:nvSpPr>
        <p:spPr>
          <a:xfrm>
            <a:off x="4937760" y="5449824"/>
            <a:ext cx="2011680" cy="22860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$6,301</a:t>
            </a:r>
            <a:endParaRPr lang="en-US" sz="1200" dirty="0"/>
          </a:p>
        </p:txBody>
      </p:sp>
      <p:sp>
        <p:nvSpPr>
          <p:cNvPr id="36" name="Shape 34"/>
          <p:cNvSpPr/>
          <p:nvPr/>
        </p:nvSpPr>
        <p:spPr>
          <a:xfrm>
            <a:off x="457200" y="5715000"/>
            <a:ext cx="6583680" cy="274320"/>
          </a:xfrm>
          <a:prstGeom prst="rect">
            <a:avLst/>
          </a:prstGeom>
          <a:solidFill>
            <a:srgbClr val="FFFFFF"/>
          </a:solidFill>
          <a:ln/>
        </p:spPr>
      </p:sp>
      <p:sp>
        <p:nvSpPr>
          <p:cNvPr id="37" name="Text 35"/>
          <p:cNvSpPr/>
          <p:nvPr/>
        </p:nvSpPr>
        <p:spPr>
          <a:xfrm>
            <a:off x="594360" y="5742432"/>
            <a:ext cx="4206240" cy="228600"/>
          </a:xfrm>
          <a:prstGeom prst="rect">
            <a:avLst/>
          </a:prstGeom>
          <a:noFill/>
          <a:ln/>
        </p:spPr>
        <p:txBody>
          <a:bodyPr wrap="square" lIns="0" tIns="0" rIns="0" bIns="0" rtlCol="0" anchor="ctr"/>
          <a:lstStyle/>
          <a:p>
            <a:pPr indent="0" marL="0">
              <a:buNone/>
            </a:pPr>
            <a:r>
              <a:rPr lang="en-US" sz="1200" b="1" dirty="0">
                <a:solidFill>
                  <a:srgbClr val="0F172A"/>
                </a:solidFill>
                <a:latin typeface="Calibri" pitchFamily="34" charset="0"/>
                <a:ea typeface="Calibri" pitchFamily="34" charset="-122"/>
                <a:cs typeface="Calibri" pitchFamily="34" charset="-120"/>
              </a:rPr>
              <a:t>Annual return</a:t>
            </a:r>
            <a:endParaRPr lang="en-US" sz="1200" dirty="0"/>
          </a:p>
        </p:txBody>
      </p:sp>
      <p:sp>
        <p:nvSpPr>
          <p:cNvPr id="38" name="Text 36"/>
          <p:cNvSpPr/>
          <p:nvPr/>
        </p:nvSpPr>
        <p:spPr>
          <a:xfrm>
            <a:off x="4937760" y="5742432"/>
            <a:ext cx="2011680" cy="228600"/>
          </a:xfrm>
          <a:prstGeom prst="rect">
            <a:avLst/>
          </a:prstGeom>
          <a:noFill/>
          <a:ln/>
        </p:spPr>
        <p:txBody>
          <a:bodyPr wrap="square" lIns="0" tIns="0" rIns="0" bIns="0" rtlCol="0" anchor="ctr"/>
          <a:lstStyle/>
          <a:p>
            <a:pPr algn="r" indent="0" marL="0">
              <a:buNone/>
            </a:pPr>
            <a:r>
              <a:rPr lang="en-US" sz="1200" b="1" dirty="0">
                <a:solidFill>
                  <a:srgbClr val="059669"/>
                </a:solidFill>
                <a:latin typeface="Calibri" pitchFamily="34" charset="0"/>
                <a:ea typeface="Calibri" pitchFamily="34" charset="-122"/>
                <a:cs typeface="Calibri" pitchFamily="34" charset="-120"/>
              </a:rPr>
              <a:t>$75,612</a:t>
            </a:r>
            <a:endParaRPr lang="en-US" sz="1200" dirty="0"/>
          </a:p>
        </p:txBody>
      </p:sp>
      <p:sp>
        <p:nvSpPr>
          <p:cNvPr id="39" name="Shape 37"/>
          <p:cNvSpPr/>
          <p:nvPr/>
        </p:nvSpPr>
        <p:spPr>
          <a:xfrm>
            <a:off x="7498080" y="2788920"/>
            <a:ext cx="4206240" cy="3291840"/>
          </a:xfrm>
          <a:prstGeom prst="rect">
            <a:avLst/>
          </a:prstGeom>
          <a:solidFill>
            <a:srgbClr val="0F0E2E"/>
          </a:solidFill>
          <a:ln/>
        </p:spPr>
      </p:sp>
      <p:sp>
        <p:nvSpPr>
          <p:cNvPr id="40" name="Text 38"/>
          <p:cNvSpPr/>
          <p:nvPr/>
        </p:nvSpPr>
        <p:spPr>
          <a:xfrm>
            <a:off x="7680960" y="2971800"/>
            <a:ext cx="3657600" cy="320040"/>
          </a:xfrm>
          <a:prstGeom prst="rect">
            <a:avLst/>
          </a:prstGeom>
          <a:noFill/>
          <a:ln/>
        </p:spPr>
        <p:txBody>
          <a:bodyPr wrap="square" lIns="0" tIns="0" rIns="0" bIns="0" rtlCol="0" anchor="ctr"/>
          <a:lstStyle/>
          <a:p>
            <a:pPr indent="0" marL="0">
              <a:buNone/>
            </a:pPr>
            <a:r>
              <a:rPr lang="en-US" sz="1100" b="1" spc="400" kern="0" dirty="0">
                <a:solidFill>
                  <a:srgbClr val="FCD34D"/>
                </a:solidFill>
                <a:latin typeface="Calibri" pitchFamily="34" charset="0"/>
                <a:ea typeface="Calibri" pitchFamily="34" charset="-122"/>
                <a:cs typeface="Calibri" pitchFamily="34" charset="-120"/>
              </a:rPr>
              <a:t>Net result</a:t>
            </a:r>
            <a:endParaRPr lang="en-US" sz="1100" dirty="0"/>
          </a:p>
        </p:txBody>
      </p:sp>
      <p:sp>
        <p:nvSpPr>
          <p:cNvPr id="41" name="Text 39"/>
          <p:cNvSpPr/>
          <p:nvPr/>
        </p:nvSpPr>
        <p:spPr>
          <a:xfrm>
            <a:off x="7680960" y="3291840"/>
            <a:ext cx="3840480" cy="1280160"/>
          </a:xfrm>
          <a:prstGeom prst="rect">
            <a:avLst/>
          </a:prstGeom>
          <a:noFill/>
          <a:ln/>
        </p:spPr>
        <p:txBody>
          <a:bodyPr wrap="square" lIns="0" tIns="0" rIns="0" bIns="0" rtlCol="0" anchor="ctr"/>
          <a:lstStyle/>
          <a:p>
            <a:pPr indent="0" marL="0">
              <a:buNone/>
            </a:pPr>
            <a:r>
              <a:rPr lang="en-US" sz="11000" b="1" dirty="0">
                <a:solidFill>
                  <a:srgbClr val="FF6B6B"/>
                </a:solidFill>
                <a:latin typeface="Calibri" pitchFamily="34" charset="0"/>
                <a:ea typeface="Calibri" pitchFamily="34" charset="-122"/>
                <a:cs typeface="Calibri" pitchFamily="34" charset="-120"/>
              </a:rPr>
              <a:t>14x</a:t>
            </a:r>
            <a:endParaRPr lang="en-US" sz="11000" dirty="0"/>
          </a:p>
        </p:txBody>
      </p:sp>
      <p:sp>
        <p:nvSpPr>
          <p:cNvPr id="42" name="Text 40"/>
          <p:cNvSpPr/>
          <p:nvPr/>
        </p:nvSpPr>
        <p:spPr>
          <a:xfrm>
            <a:off x="7680960" y="4572000"/>
            <a:ext cx="38404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return on plan cost</a:t>
            </a:r>
            <a:endParaRPr lang="en-US" sz="1400" dirty="0"/>
          </a:p>
        </p:txBody>
      </p:sp>
      <p:sp>
        <p:nvSpPr>
          <p:cNvPr id="43" name="Text 41"/>
          <p:cNvSpPr/>
          <p:nvPr/>
        </p:nvSpPr>
        <p:spPr>
          <a:xfrm>
            <a:off x="7680960" y="5029200"/>
            <a:ext cx="3840480" cy="1188720"/>
          </a:xfrm>
          <a:prstGeom prst="rect">
            <a:avLst/>
          </a:prstGeom>
          <a:noFill/>
          <a:ln/>
        </p:spPr>
        <p:txBody>
          <a:bodyPr wrap="square" lIns="0" tIns="0" rIns="0" bIns="0" rtlCol="0" anchor="ctr"/>
          <a:lstStyle/>
          <a:p>
            <a:pPr indent="0" marL="0">
              <a:lnSpc>
                <a:spcPct val="140000"/>
              </a:lnSpc>
              <a:buNone/>
            </a:pPr>
            <a:r>
              <a:rPr lang="en-US" sz="1100" dirty="0">
                <a:solidFill>
                  <a:srgbClr val="CBD5E1"/>
                </a:solidFill>
                <a:latin typeface="Calibri" pitchFamily="34" charset="0"/>
                <a:ea typeface="Calibri" pitchFamily="34" charset="-122"/>
                <a:cs typeface="Calibri" pitchFamily="34" charset="-120"/>
              </a:rPr>
              <a:t>Plus a defensible analytical aid in every client's hand. Plus a brokerage-wide consistency standard. Plus E&amp;O posture that improves with the audit trail.</a:t>
            </a:r>
            <a:endParaRPr lang="en-US" sz="1100" dirty="0"/>
          </a:p>
        </p:txBody>
      </p:sp>
      <p:sp>
        <p:nvSpPr>
          <p:cNvPr id="44" name="Text 42"/>
          <p:cNvSpPr/>
          <p:nvPr/>
        </p:nvSpPr>
        <p:spPr>
          <a:xfrm>
            <a:off x="10728655" y="6446520"/>
            <a:ext cx="1280160" cy="274320"/>
          </a:xfrm>
          <a:prstGeom prst="rect">
            <a:avLst/>
          </a:prstGeom>
          <a:noFill/>
          <a:ln/>
        </p:spPr>
        <p:txBody>
          <a:bodyPr wrap="square" lIns="0" tIns="0" rIns="0" bIns="0" rtlCol="0" anchor="ctr"/>
          <a:lstStyle/>
          <a:p>
            <a:pPr algn="r" indent="0" marL="0">
              <a:buNone/>
            </a:pPr>
            <a:r>
              <a:rPr lang="en-US" sz="1200" b="1" dirty="0">
                <a:solidFill>
                  <a:srgbClr val="E85D75"/>
                </a:solidFill>
                <a:latin typeface="Calibri" pitchFamily="34" charset="0"/>
                <a:ea typeface="Calibri" pitchFamily="34" charset="-122"/>
                <a:cs typeface="Calibri" pitchFamily="34" charset="-120"/>
              </a:rPr>
              <a:t>veroax</a:t>
            </a:r>
            <a:pPr algn="r" indent="0" marL="0">
              <a:buNone/>
            </a:pPr>
            <a:r>
              <a:rPr lang="en-US" sz="1200" b="1" dirty="0">
                <a:solidFill>
                  <a:srgbClr val="3FB8AF"/>
                </a:solidFill>
                <a:latin typeface="Calibri" pitchFamily="34" charset="0"/>
                <a:ea typeface="Calibri" pitchFamily="34" charset="-122"/>
                <a:cs typeface="Calibri" pitchFamily="34" charset="-120"/>
              </a:rPr>
              <a:t> • </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 cy="228600"/>
          </a:xfrm>
          <a:prstGeom prst="rect">
            <a:avLst/>
          </a:prstGeom>
          <a:noFill/>
          <a:ln/>
        </p:spPr>
        <p:txBody>
          <a:bodyPr wrap="square" lIns="0" tIns="0" rIns="0" bIns="0"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10 / 12</a:t>
            </a:r>
            <a:endParaRPr lang="en-US" sz="900" dirty="0"/>
          </a:p>
        </p:txBody>
      </p:sp>
      <p:sp>
        <p:nvSpPr>
          <p:cNvPr id="3" name="Text 1"/>
          <p:cNvSpPr/>
          <p:nvPr/>
        </p:nvSpPr>
        <p:spPr>
          <a:xfrm>
            <a:off x="457200" y="777240"/>
            <a:ext cx="10972800" cy="320040"/>
          </a:xfrm>
          <a:prstGeom prst="rect">
            <a:avLst/>
          </a:prstGeom>
          <a:noFill/>
          <a:ln/>
        </p:spPr>
        <p:txBody>
          <a:bodyPr wrap="square" lIns="0" tIns="0" rIns="0" bIns="0" rtlCol="0" anchor="ctr"/>
          <a:lstStyle/>
          <a:p>
            <a:pPr indent="0" marL="0">
              <a:buNone/>
            </a:pPr>
            <a:r>
              <a:rPr lang="en-US" sz="1100" b="1" spc="500" kern="0" dirty="0">
                <a:solidFill>
                  <a:srgbClr val="E85D75"/>
                </a:solidFill>
                <a:latin typeface="Calibri" pitchFamily="34" charset="0"/>
                <a:ea typeface="Calibri" pitchFamily="34" charset="-122"/>
                <a:cs typeface="Calibri" pitchFamily="34" charset="-120"/>
              </a:rPr>
              <a:t>Privacy + compliance</a:t>
            </a:r>
            <a:endParaRPr lang="en-US" sz="1100" dirty="0"/>
          </a:p>
        </p:txBody>
      </p:sp>
      <p:sp>
        <p:nvSpPr>
          <p:cNvPr id="4" name="Text 2"/>
          <p:cNvSpPr/>
          <p:nvPr/>
        </p:nvSpPr>
        <p:spPr>
          <a:xfrm>
            <a:off x="457200" y="1143000"/>
            <a:ext cx="11247120" cy="914400"/>
          </a:xfrm>
          <a:prstGeom prst="rect">
            <a:avLst/>
          </a:prstGeom>
          <a:noFill/>
          <a:ln/>
        </p:spPr>
        <p:txBody>
          <a:bodyPr wrap="square" lIns="0" tIns="0" rIns="0" bIns="0" rtlCol="0" anchor="ctr"/>
          <a:lstStyle/>
          <a:p>
            <a:pPr indent="0" marL="0">
              <a:lnSpc>
                <a:spcPct val="110000"/>
              </a:lnSpc>
              <a:buNone/>
            </a:pPr>
            <a:r>
              <a:rPr lang="en-US" sz="3200" b="1" dirty="0">
                <a:solidFill>
                  <a:srgbClr val="0F172A"/>
                </a:solidFill>
                <a:latin typeface="Calibri" pitchFamily="34" charset="0"/>
                <a:ea typeface="Calibri" pitchFamily="34" charset="-122"/>
                <a:cs typeface="Calibri" pitchFamily="34" charset="-120"/>
              </a:rPr>
              <a:t>Built for a regulated category.</a:t>
            </a:r>
            <a:endParaRPr lang="en-US" sz="3200" dirty="0"/>
          </a:p>
        </p:txBody>
      </p:sp>
      <p:sp>
        <p:nvSpPr>
          <p:cNvPr id="5" name="Text 3"/>
          <p:cNvSpPr/>
          <p:nvPr/>
        </p:nvSpPr>
        <p:spPr>
          <a:xfrm>
            <a:off x="457200" y="2103120"/>
            <a:ext cx="11247120" cy="457200"/>
          </a:xfrm>
          <a:prstGeom prst="rect">
            <a:avLst/>
          </a:prstGeom>
          <a:noFill/>
          <a:ln/>
        </p:spPr>
        <p:txBody>
          <a:bodyPr wrap="square" lIns="0" tIns="0" rIns="0" bIns="0" rtlCol="0" anchor="ctr"/>
          <a:lstStyle/>
          <a:p>
            <a:pPr indent="0" marL="0">
              <a:buNone/>
            </a:pPr>
            <a:r>
              <a:rPr lang="en-US" sz="1500" dirty="0">
                <a:solidFill>
                  <a:srgbClr val="334155"/>
                </a:solidFill>
                <a:latin typeface="Calibri" pitchFamily="34" charset="0"/>
                <a:ea typeface="Calibri" pitchFamily="34" charset="-122"/>
                <a:cs typeface="Calibri" pitchFamily="34" charset="-120"/>
              </a:rPr>
              <a:t>What your compliance officer wants to know before signing.</a:t>
            </a:r>
            <a:endParaRPr lang="en-US" sz="1500" dirty="0"/>
          </a:p>
        </p:txBody>
      </p:sp>
      <p:sp>
        <p:nvSpPr>
          <p:cNvPr id="6" name="Shape 4"/>
          <p:cNvSpPr/>
          <p:nvPr/>
        </p:nvSpPr>
        <p:spPr>
          <a:xfrm>
            <a:off x="457200" y="2834640"/>
            <a:ext cx="5486400" cy="1051560"/>
          </a:xfrm>
          <a:prstGeom prst="rect">
            <a:avLst/>
          </a:prstGeom>
          <a:solidFill>
            <a:srgbClr val="FAF8F2"/>
          </a:solidFill>
          <a:ln/>
        </p:spPr>
      </p:sp>
      <p:sp>
        <p:nvSpPr>
          <p:cNvPr id="7" name="Text 5"/>
          <p:cNvSpPr/>
          <p:nvPr/>
        </p:nvSpPr>
        <p:spPr>
          <a:xfrm>
            <a:off x="640080" y="3017520"/>
            <a:ext cx="457200" cy="731520"/>
          </a:xfrm>
          <a:prstGeom prst="rect">
            <a:avLst/>
          </a:prstGeom>
          <a:noFill/>
          <a:ln/>
        </p:spPr>
        <p:txBody>
          <a:bodyPr wrap="square" lIns="0" tIns="0" rIns="0" bIns="0" rtlCol="0" anchor="ctr"/>
          <a:lstStyle/>
          <a:p>
            <a:pPr algn="ctr" indent="0" marL="0">
              <a:buNone/>
            </a:pPr>
            <a:r>
              <a:rPr lang="en-US" sz="2600" b="1" dirty="0">
                <a:solidFill>
                  <a:srgbClr val="059669"/>
                </a:solidFill>
                <a:latin typeface="Calibri" pitchFamily="34" charset="0"/>
                <a:ea typeface="Calibri" pitchFamily="34" charset="-122"/>
                <a:cs typeface="Calibri" pitchFamily="34" charset="-120"/>
              </a:rPr>
              <a:t>✓</a:t>
            </a:r>
            <a:endParaRPr lang="en-US" sz="2600" dirty="0"/>
          </a:p>
        </p:txBody>
      </p:sp>
      <p:sp>
        <p:nvSpPr>
          <p:cNvPr id="8" name="Text 6"/>
          <p:cNvSpPr/>
          <p:nvPr/>
        </p:nvSpPr>
        <p:spPr>
          <a:xfrm>
            <a:off x="1234440" y="2971800"/>
            <a:ext cx="457200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No PII in the audit log</a:t>
            </a:r>
            <a:endParaRPr lang="en-US" sz="1400" dirty="0"/>
          </a:p>
        </p:txBody>
      </p:sp>
      <p:sp>
        <p:nvSpPr>
          <p:cNvPr id="9" name="Text 7"/>
          <p:cNvSpPr/>
          <p:nvPr/>
        </p:nvSpPr>
        <p:spPr>
          <a:xfrm>
            <a:off x="1234440" y="3291840"/>
            <a:ext cx="4572000" cy="548640"/>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Buyer / seller / financial / lender data never lands in our operational logs. Filenames are SHA-256 hashed before logging.</a:t>
            </a:r>
            <a:endParaRPr lang="en-US" sz="1150" dirty="0"/>
          </a:p>
        </p:txBody>
      </p:sp>
      <p:sp>
        <p:nvSpPr>
          <p:cNvPr id="10" name="Shape 8"/>
          <p:cNvSpPr/>
          <p:nvPr/>
        </p:nvSpPr>
        <p:spPr>
          <a:xfrm>
            <a:off x="6217920" y="2834640"/>
            <a:ext cx="5486400" cy="1051560"/>
          </a:xfrm>
          <a:prstGeom prst="rect">
            <a:avLst/>
          </a:prstGeom>
          <a:solidFill>
            <a:srgbClr val="FAF8F2"/>
          </a:solidFill>
          <a:ln/>
        </p:spPr>
      </p:sp>
      <p:sp>
        <p:nvSpPr>
          <p:cNvPr id="11" name="Text 9"/>
          <p:cNvSpPr/>
          <p:nvPr/>
        </p:nvSpPr>
        <p:spPr>
          <a:xfrm>
            <a:off x="6400800" y="3017520"/>
            <a:ext cx="457200" cy="731520"/>
          </a:xfrm>
          <a:prstGeom prst="rect">
            <a:avLst/>
          </a:prstGeom>
          <a:noFill/>
          <a:ln/>
        </p:spPr>
        <p:txBody>
          <a:bodyPr wrap="square" lIns="0" tIns="0" rIns="0" bIns="0" rtlCol="0" anchor="ctr"/>
          <a:lstStyle/>
          <a:p>
            <a:pPr algn="ctr" indent="0" marL="0">
              <a:buNone/>
            </a:pPr>
            <a:r>
              <a:rPr lang="en-US" sz="2600" b="1" dirty="0">
                <a:solidFill>
                  <a:srgbClr val="059669"/>
                </a:solidFill>
                <a:latin typeface="Calibri" pitchFamily="34" charset="0"/>
                <a:ea typeface="Calibri" pitchFamily="34" charset="-122"/>
                <a:cs typeface="Calibri" pitchFamily="34" charset="-120"/>
              </a:rPr>
              <a:t>✓</a:t>
            </a:r>
            <a:endParaRPr lang="en-US" sz="2600" dirty="0"/>
          </a:p>
        </p:txBody>
      </p:sp>
      <p:sp>
        <p:nvSpPr>
          <p:cNvPr id="12" name="Text 10"/>
          <p:cNvSpPr/>
          <p:nvPr/>
        </p:nvSpPr>
        <p:spPr>
          <a:xfrm>
            <a:off x="6995160" y="2971800"/>
            <a:ext cx="457200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No model training on your data</a:t>
            </a:r>
            <a:endParaRPr lang="en-US" sz="1400" dirty="0"/>
          </a:p>
        </p:txBody>
      </p:sp>
      <p:sp>
        <p:nvSpPr>
          <p:cNvPr id="13" name="Text 11"/>
          <p:cNvSpPr/>
          <p:nvPr/>
        </p:nvSpPr>
        <p:spPr>
          <a:xfrm>
            <a:off x="6995160" y="3291840"/>
            <a:ext cx="4572000" cy="548640"/>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Contracts with Anthropic and any other model providers explicitly prohibit using customer content for foundation-model training.</a:t>
            </a:r>
            <a:endParaRPr lang="en-US" sz="1150" dirty="0"/>
          </a:p>
        </p:txBody>
      </p:sp>
      <p:sp>
        <p:nvSpPr>
          <p:cNvPr id="14" name="Shape 12"/>
          <p:cNvSpPr/>
          <p:nvPr/>
        </p:nvSpPr>
        <p:spPr>
          <a:xfrm>
            <a:off x="457200" y="3977640"/>
            <a:ext cx="5486400" cy="1051560"/>
          </a:xfrm>
          <a:prstGeom prst="rect">
            <a:avLst/>
          </a:prstGeom>
          <a:solidFill>
            <a:srgbClr val="FAF8F2"/>
          </a:solidFill>
          <a:ln/>
        </p:spPr>
      </p:sp>
      <p:sp>
        <p:nvSpPr>
          <p:cNvPr id="15" name="Text 13"/>
          <p:cNvSpPr/>
          <p:nvPr/>
        </p:nvSpPr>
        <p:spPr>
          <a:xfrm>
            <a:off x="640080" y="4160520"/>
            <a:ext cx="457200" cy="731520"/>
          </a:xfrm>
          <a:prstGeom prst="rect">
            <a:avLst/>
          </a:prstGeom>
          <a:noFill/>
          <a:ln/>
        </p:spPr>
        <p:txBody>
          <a:bodyPr wrap="square" lIns="0" tIns="0" rIns="0" bIns="0" rtlCol="0" anchor="ctr"/>
          <a:lstStyle/>
          <a:p>
            <a:pPr algn="ctr" indent="0" marL="0">
              <a:buNone/>
            </a:pPr>
            <a:r>
              <a:rPr lang="en-US" sz="2600" b="1" dirty="0">
                <a:solidFill>
                  <a:srgbClr val="059669"/>
                </a:solidFill>
                <a:latin typeface="Calibri" pitchFamily="34" charset="0"/>
                <a:ea typeface="Calibri" pitchFamily="34" charset="-122"/>
                <a:cs typeface="Calibri" pitchFamily="34" charset="-120"/>
              </a:rPr>
              <a:t>✓</a:t>
            </a:r>
            <a:endParaRPr lang="en-US" sz="2600" dirty="0"/>
          </a:p>
        </p:txBody>
      </p:sp>
      <p:sp>
        <p:nvSpPr>
          <p:cNvPr id="16" name="Text 14"/>
          <p:cNvSpPr/>
          <p:nvPr/>
        </p:nvSpPr>
        <p:spPr>
          <a:xfrm>
            <a:off x="1234440" y="4114800"/>
            <a:ext cx="457200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Row-level security on every table</a:t>
            </a:r>
            <a:endParaRPr lang="en-US" sz="1400" dirty="0"/>
          </a:p>
        </p:txBody>
      </p:sp>
      <p:sp>
        <p:nvSpPr>
          <p:cNvPr id="17" name="Text 15"/>
          <p:cNvSpPr/>
          <p:nvPr/>
        </p:nvSpPr>
        <p:spPr>
          <a:xfrm>
            <a:off x="1234440" y="4434840"/>
            <a:ext cx="4572000" cy="548640"/>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Each agent / brokerage only sees their own data. Admin access is service-role and itself logged.</a:t>
            </a:r>
            <a:endParaRPr lang="en-US" sz="1150" dirty="0"/>
          </a:p>
        </p:txBody>
      </p:sp>
      <p:sp>
        <p:nvSpPr>
          <p:cNvPr id="18" name="Shape 16"/>
          <p:cNvSpPr/>
          <p:nvPr/>
        </p:nvSpPr>
        <p:spPr>
          <a:xfrm>
            <a:off x="6217920" y="3977640"/>
            <a:ext cx="5486400" cy="1051560"/>
          </a:xfrm>
          <a:prstGeom prst="rect">
            <a:avLst/>
          </a:prstGeom>
          <a:solidFill>
            <a:srgbClr val="FAF8F2"/>
          </a:solidFill>
          <a:ln/>
        </p:spPr>
      </p:sp>
      <p:sp>
        <p:nvSpPr>
          <p:cNvPr id="19" name="Text 17"/>
          <p:cNvSpPr/>
          <p:nvPr/>
        </p:nvSpPr>
        <p:spPr>
          <a:xfrm>
            <a:off x="6400800" y="4160520"/>
            <a:ext cx="457200" cy="731520"/>
          </a:xfrm>
          <a:prstGeom prst="rect">
            <a:avLst/>
          </a:prstGeom>
          <a:noFill/>
          <a:ln/>
        </p:spPr>
        <p:txBody>
          <a:bodyPr wrap="square" lIns="0" tIns="0" rIns="0" bIns="0" rtlCol="0" anchor="ctr"/>
          <a:lstStyle/>
          <a:p>
            <a:pPr algn="ctr" indent="0" marL="0">
              <a:buNone/>
            </a:pPr>
            <a:r>
              <a:rPr lang="en-US" sz="2600" b="1" dirty="0">
                <a:solidFill>
                  <a:srgbClr val="059669"/>
                </a:solidFill>
                <a:latin typeface="Calibri" pitchFamily="34" charset="0"/>
                <a:ea typeface="Calibri" pitchFamily="34" charset="-122"/>
                <a:cs typeface="Calibri" pitchFamily="34" charset="-120"/>
              </a:rPr>
              <a:t>✓</a:t>
            </a:r>
            <a:endParaRPr lang="en-US" sz="2600" dirty="0"/>
          </a:p>
        </p:txBody>
      </p:sp>
      <p:sp>
        <p:nvSpPr>
          <p:cNvPr id="20" name="Text 18"/>
          <p:cNvSpPr/>
          <p:nvPr/>
        </p:nvSpPr>
        <p:spPr>
          <a:xfrm>
            <a:off x="6995160" y="4114800"/>
            <a:ext cx="457200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California-resident processing</a:t>
            </a:r>
            <a:endParaRPr lang="en-US" sz="1400" dirty="0"/>
          </a:p>
        </p:txBody>
      </p:sp>
      <p:sp>
        <p:nvSpPr>
          <p:cNvPr id="21" name="Text 19"/>
          <p:cNvSpPr/>
          <p:nvPr/>
        </p:nvSpPr>
        <p:spPr>
          <a:xfrm>
            <a:off x="6995160" y="4434840"/>
            <a:ext cx="4572000" cy="548640"/>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Compute runs on Vercel (US regions). Storage runs on Supabase / AWS US-West. Data residency is documentable for clients who ask.</a:t>
            </a:r>
            <a:endParaRPr lang="en-US" sz="1150" dirty="0"/>
          </a:p>
        </p:txBody>
      </p:sp>
      <p:sp>
        <p:nvSpPr>
          <p:cNvPr id="22" name="Shape 20"/>
          <p:cNvSpPr/>
          <p:nvPr/>
        </p:nvSpPr>
        <p:spPr>
          <a:xfrm>
            <a:off x="457200" y="5120640"/>
            <a:ext cx="5486400" cy="1051560"/>
          </a:xfrm>
          <a:prstGeom prst="rect">
            <a:avLst/>
          </a:prstGeom>
          <a:solidFill>
            <a:srgbClr val="FAF8F2"/>
          </a:solidFill>
          <a:ln/>
        </p:spPr>
      </p:sp>
      <p:sp>
        <p:nvSpPr>
          <p:cNvPr id="23" name="Text 21"/>
          <p:cNvSpPr/>
          <p:nvPr/>
        </p:nvSpPr>
        <p:spPr>
          <a:xfrm>
            <a:off x="640080" y="5303520"/>
            <a:ext cx="457200" cy="731520"/>
          </a:xfrm>
          <a:prstGeom prst="rect">
            <a:avLst/>
          </a:prstGeom>
          <a:noFill/>
          <a:ln/>
        </p:spPr>
        <p:txBody>
          <a:bodyPr wrap="square" lIns="0" tIns="0" rIns="0" bIns="0" rtlCol="0" anchor="ctr"/>
          <a:lstStyle/>
          <a:p>
            <a:pPr algn="ctr" indent="0" marL="0">
              <a:buNone/>
            </a:pPr>
            <a:r>
              <a:rPr lang="en-US" sz="2600" b="1" dirty="0">
                <a:solidFill>
                  <a:srgbClr val="059669"/>
                </a:solidFill>
                <a:latin typeface="Calibri" pitchFamily="34" charset="0"/>
                <a:ea typeface="Calibri" pitchFamily="34" charset="-122"/>
                <a:cs typeface="Calibri" pitchFamily="34" charset="-120"/>
              </a:rPr>
              <a:t>✓</a:t>
            </a:r>
            <a:endParaRPr lang="en-US" sz="2600" dirty="0"/>
          </a:p>
        </p:txBody>
      </p:sp>
      <p:sp>
        <p:nvSpPr>
          <p:cNvPr id="24" name="Text 22"/>
          <p:cNvSpPr/>
          <p:nvPr/>
        </p:nvSpPr>
        <p:spPr>
          <a:xfrm>
            <a:off x="1234440" y="5257800"/>
            <a:ext cx="457200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Encrypted at rest and in transit</a:t>
            </a:r>
            <a:endParaRPr lang="en-US" sz="1400" dirty="0"/>
          </a:p>
        </p:txBody>
      </p:sp>
      <p:sp>
        <p:nvSpPr>
          <p:cNvPr id="25" name="Text 23"/>
          <p:cNvSpPr/>
          <p:nvPr/>
        </p:nvSpPr>
        <p:spPr>
          <a:xfrm>
            <a:off x="1234440" y="5577840"/>
            <a:ext cx="4572000" cy="548640"/>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TLS for every request. Supabase encrypts the at-rest storage with AES-256.</a:t>
            </a:r>
            <a:endParaRPr lang="en-US" sz="1150" dirty="0"/>
          </a:p>
        </p:txBody>
      </p:sp>
      <p:sp>
        <p:nvSpPr>
          <p:cNvPr id="26" name="Shape 24"/>
          <p:cNvSpPr/>
          <p:nvPr/>
        </p:nvSpPr>
        <p:spPr>
          <a:xfrm>
            <a:off x="6217920" y="5120640"/>
            <a:ext cx="5486400" cy="1051560"/>
          </a:xfrm>
          <a:prstGeom prst="rect">
            <a:avLst/>
          </a:prstGeom>
          <a:solidFill>
            <a:srgbClr val="FAF8F2"/>
          </a:solidFill>
          <a:ln/>
        </p:spPr>
      </p:sp>
      <p:sp>
        <p:nvSpPr>
          <p:cNvPr id="27" name="Text 25"/>
          <p:cNvSpPr/>
          <p:nvPr/>
        </p:nvSpPr>
        <p:spPr>
          <a:xfrm>
            <a:off x="6400800" y="5303520"/>
            <a:ext cx="457200" cy="731520"/>
          </a:xfrm>
          <a:prstGeom prst="rect">
            <a:avLst/>
          </a:prstGeom>
          <a:noFill/>
          <a:ln/>
        </p:spPr>
        <p:txBody>
          <a:bodyPr wrap="square" lIns="0" tIns="0" rIns="0" bIns="0" rtlCol="0" anchor="ctr"/>
          <a:lstStyle/>
          <a:p>
            <a:pPr algn="ctr" indent="0" marL="0">
              <a:buNone/>
            </a:pPr>
            <a:r>
              <a:rPr lang="en-US" sz="2600" b="1" dirty="0">
                <a:solidFill>
                  <a:srgbClr val="059669"/>
                </a:solidFill>
                <a:latin typeface="Calibri" pitchFamily="34" charset="0"/>
                <a:ea typeface="Calibri" pitchFamily="34" charset="-122"/>
                <a:cs typeface="Calibri" pitchFamily="34" charset="-120"/>
              </a:rPr>
              <a:t>✓</a:t>
            </a:r>
            <a:endParaRPr lang="en-US" sz="2600" dirty="0"/>
          </a:p>
        </p:txBody>
      </p:sp>
      <p:sp>
        <p:nvSpPr>
          <p:cNvPr id="28" name="Text 26"/>
          <p:cNvSpPr/>
          <p:nvPr/>
        </p:nvSpPr>
        <p:spPr>
          <a:xfrm>
            <a:off x="6995160" y="5257800"/>
            <a:ext cx="4572000" cy="3200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Audit trail per report</a:t>
            </a:r>
            <a:endParaRPr lang="en-US" sz="1400" dirty="0"/>
          </a:p>
        </p:txBody>
      </p:sp>
      <p:sp>
        <p:nvSpPr>
          <p:cNvPr id="29" name="Text 27"/>
          <p:cNvSpPr/>
          <p:nvPr/>
        </p:nvSpPr>
        <p:spPr>
          <a:xfrm>
            <a:off x="6995160" y="5577840"/>
            <a:ext cx="4572000" cy="548640"/>
          </a:xfrm>
          <a:prstGeom prst="rect">
            <a:avLst/>
          </a:prstGeom>
          <a:noFill/>
          <a:ln/>
        </p:spPr>
        <p:txBody>
          <a:bodyPr wrap="square" lIns="0" tIns="0" rIns="0" bIns="0" rtlCol="0" anchor="ctr"/>
          <a:lstStyle/>
          <a:p>
            <a:pPr indent="0" marL="0">
              <a:lnSpc>
                <a:spcPct val="130000"/>
              </a:lnSpc>
              <a:buNone/>
            </a:pPr>
            <a:r>
              <a:rPr lang="en-US" sz="1150" dirty="0">
                <a:solidFill>
                  <a:srgbClr val="334155"/>
                </a:solidFill>
                <a:latin typeface="Calibri" pitchFamily="34" charset="0"/>
                <a:ea typeface="Calibri" pitchFamily="34" charset="-122"/>
                <a:cs typeface="Calibri" pitchFamily="34" charset="-120"/>
              </a:rPr>
              <a:t>Every analyze, edit, send, share, and delete event is logged with actor, timestamp, and operational metadata.</a:t>
            </a:r>
            <a:endParaRPr lang="en-US" sz="1150" dirty="0"/>
          </a:p>
        </p:txBody>
      </p:sp>
      <p:sp>
        <p:nvSpPr>
          <p:cNvPr id="30" name="Text 28"/>
          <p:cNvSpPr/>
          <p:nvPr/>
        </p:nvSpPr>
        <p:spPr>
          <a:xfrm>
            <a:off x="10728655" y="6446520"/>
            <a:ext cx="1280160" cy="274320"/>
          </a:xfrm>
          <a:prstGeom prst="rect">
            <a:avLst/>
          </a:prstGeom>
          <a:noFill/>
          <a:ln/>
        </p:spPr>
        <p:txBody>
          <a:bodyPr wrap="square" lIns="0" tIns="0" rIns="0" bIns="0" rtlCol="0" anchor="ctr"/>
          <a:lstStyle/>
          <a:p>
            <a:pPr algn="r" indent="0" marL="0">
              <a:buNone/>
            </a:pPr>
            <a:r>
              <a:rPr lang="en-US" sz="1200" b="1" dirty="0">
                <a:solidFill>
                  <a:srgbClr val="E85D75"/>
                </a:solidFill>
                <a:latin typeface="Calibri" pitchFamily="34" charset="0"/>
                <a:ea typeface="Calibri" pitchFamily="34" charset="-122"/>
                <a:cs typeface="Calibri" pitchFamily="34" charset="-120"/>
              </a:rPr>
              <a:t>veroax</a:t>
            </a:r>
            <a:pPr algn="r" indent="0" marL="0">
              <a:buNone/>
            </a:pPr>
            <a:r>
              <a:rPr lang="en-US" sz="1200" b="1" dirty="0">
                <a:solidFill>
                  <a:srgbClr val="3FB8AF"/>
                </a:solidFill>
                <a:latin typeface="Calibri" pitchFamily="34" charset="0"/>
                <a:ea typeface="Calibri" pitchFamily="34" charset="-122"/>
                <a:cs typeface="Calibri" pitchFamily="34" charset="-120"/>
              </a:rPr>
              <a:t> • </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1097280" cy="228600"/>
          </a:xfrm>
          <a:prstGeom prst="rect">
            <a:avLst/>
          </a:prstGeom>
          <a:noFill/>
          <a:ln/>
        </p:spPr>
        <p:txBody>
          <a:bodyPr wrap="square" lIns="0" tIns="0" rIns="0" bIns="0" rtlCol="0" anchor="ctr"/>
          <a:lstStyle/>
          <a:p>
            <a:pPr indent="0" marL="0">
              <a:buNone/>
            </a:pPr>
            <a:r>
              <a:rPr lang="en-US" sz="900" b="1" spc="400" kern="0" dirty="0">
                <a:solidFill>
                  <a:srgbClr val="64748B"/>
                </a:solidFill>
                <a:latin typeface="Calibri" pitchFamily="34" charset="0"/>
                <a:ea typeface="Calibri" pitchFamily="34" charset="-122"/>
                <a:cs typeface="Calibri" pitchFamily="34" charset="-120"/>
              </a:rPr>
              <a:t>11 / 12</a:t>
            </a:r>
            <a:endParaRPr lang="en-US" sz="900" dirty="0"/>
          </a:p>
        </p:txBody>
      </p:sp>
      <p:sp>
        <p:nvSpPr>
          <p:cNvPr id="3" name="Text 1"/>
          <p:cNvSpPr/>
          <p:nvPr/>
        </p:nvSpPr>
        <p:spPr>
          <a:xfrm>
            <a:off x="457200" y="777240"/>
            <a:ext cx="10972800" cy="320040"/>
          </a:xfrm>
          <a:prstGeom prst="rect">
            <a:avLst/>
          </a:prstGeom>
          <a:noFill/>
          <a:ln/>
        </p:spPr>
        <p:txBody>
          <a:bodyPr wrap="square" lIns="0" tIns="0" rIns="0" bIns="0" rtlCol="0" anchor="ctr"/>
          <a:lstStyle/>
          <a:p>
            <a:pPr indent="0" marL="0">
              <a:buNone/>
            </a:pPr>
            <a:r>
              <a:rPr lang="en-US" sz="1100" b="1" spc="500" kern="0" dirty="0">
                <a:solidFill>
                  <a:srgbClr val="E85D75"/>
                </a:solidFill>
                <a:latin typeface="Calibri" pitchFamily="34" charset="0"/>
                <a:ea typeface="Calibri" pitchFamily="34" charset="-122"/>
                <a:cs typeface="Calibri" pitchFamily="34" charset="-120"/>
              </a:rPr>
              <a:t>Getting started</a:t>
            </a:r>
            <a:endParaRPr lang="en-US" sz="1100" dirty="0"/>
          </a:p>
        </p:txBody>
      </p:sp>
      <p:sp>
        <p:nvSpPr>
          <p:cNvPr id="4" name="Text 2"/>
          <p:cNvSpPr/>
          <p:nvPr/>
        </p:nvSpPr>
        <p:spPr>
          <a:xfrm>
            <a:off x="457200" y="1143000"/>
            <a:ext cx="11247120" cy="914400"/>
          </a:xfrm>
          <a:prstGeom prst="rect">
            <a:avLst/>
          </a:prstGeom>
          <a:noFill/>
          <a:ln/>
        </p:spPr>
        <p:txBody>
          <a:bodyPr wrap="square" lIns="0" tIns="0" rIns="0" bIns="0" rtlCol="0" anchor="ctr"/>
          <a:lstStyle/>
          <a:p>
            <a:pPr indent="0" marL="0">
              <a:lnSpc>
                <a:spcPct val="110000"/>
              </a:lnSpc>
              <a:buNone/>
            </a:pPr>
            <a:r>
              <a:rPr lang="en-US" sz="3200" b="1" dirty="0">
                <a:solidFill>
                  <a:srgbClr val="0F172A"/>
                </a:solidFill>
                <a:latin typeface="Calibri" pitchFamily="34" charset="0"/>
                <a:ea typeface="Calibri" pitchFamily="34" charset="-122"/>
                <a:cs typeface="Calibri" pitchFamily="34" charset="-120"/>
              </a:rPr>
              <a:t>Two-week implementation, light lift on your side.</a:t>
            </a:r>
            <a:endParaRPr lang="en-US" sz="3200" dirty="0"/>
          </a:p>
        </p:txBody>
      </p:sp>
      <p:sp>
        <p:nvSpPr>
          <p:cNvPr id="5" name="Shape 3"/>
          <p:cNvSpPr/>
          <p:nvPr/>
        </p:nvSpPr>
        <p:spPr>
          <a:xfrm>
            <a:off x="457200" y="2743200"/>
            <a:ext cx="1828800" cy="1005840"/>
          </a:xfrm>
          <a:prstGeom prst="rect">
            <a:avLst/>
          </a:prstGeom>
          <a:solidFill>
            <a:srgbClr val="E85D75"/>
          </a:solidFill>
          <a:ln/>
        </p:spPr>
      </p:sp>
      <p:sp>
        <p:nvSpPr>
          <p:cNvPr id="6" name="Text 4"/>
          <p:cNvSpPr/>
          <p:nvPr/>
        </p:nvSpPr>
        <p:spPr>
          <a:xfrm>
            <a:off x="457200" y="3017520"/>
            <a:ext cx="18288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Week 1</a:t>
            </a:r>
            <a:endParaRPr lang="en-US" sz="1800" dirty="0"/>
          </a:p>
        </p:txBody>
      </p:sp>
      <p:sp>
        <p:nvSpPr>
          <p:cNvPr id="7" name="Shape 5"/>
          <p:cNvSpPr/>
          <p:nvPr/>
        </p:nvSpPr>
        <p:spPr>
          <a:xfrm>
            <a:off x="2468880" y="2743200"/>
            <a:ext cx="9235440" cy="1005840"/>
          </a:xfrm>
          <a:prstGeom prst="rect">
            <a:avLst/>
          </a:prstGeom>
          <a:solidFill>
            <a:srgbClr val="FAF8F2"/>
          </a:solidFill>
          <a:ln/>
        </p:spPr>
      </p:sp>
      <p:sp>
        <p:nvSpPr>
          <p:cNvPr id="8" name="Text 6"/>
          <p:cNvSpPr/>
          <p:nvPr/>
        </p:nvSpPr>
        <p:spPr>
          <a:xfrm>
            <a:off x="2651760" y="2852928"/>
            <a:ext cx="88696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Brand + onboarding</a:t>
            </a:r>
            <a:endParaRPr lang="en-US" sz="1600" dirty="0"/>
          </a:p>
        </p:txBody>
      </p:sp>
      <p:sp>
        <p:nvSpPr>
          <p:cNvPr id="9" name="Text 7"/>
          <p:cNvSpPr/>
          <p:nvPr/>
        </p:nvSpPr>
        <p:spPr>
          <a:xfrm>
            <a:off x="2651760" y="3200400"/>
            <a:ext cx="8869680" cy="5029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We collect your logo, colors, brokerage DRE, agent roster, and email-domain config. You get a single onboarding call to walk through the platform. Test reports run against a sample disclosure package.</a:t>
            </a:r>
            <a:endParaRPr lang="en-US" sz="1250" dirty="0"/>
          </a:p>
        </p:txBody>
      </p:sp>
      <p:sp>
        <p:nvSpPr>
          <p:cNvPr id="10" name="Shape 8"/>
          <p:cNvSpPr/>
          <p:nvPr/>
        </p:nvSpPr>
        <p:spPr>
          <a:xfrm>
            <a:off x="457200" y="3931920"/>
            <a:ext cx="1828800" cy="1005840"/>
          </a:xfrm>
          <a:prstGeom prst="rect">
            <a:avLst/>
          </a:prstGeom>
          <a:solidFill>
            <a:srgbClr val="3FB8AF"/>
          </a:solidFill>
          <a:ln/>
        </p:spPr>
      </p:sp>
      <p:sp>
        <p:nvSpPr>
          <p:cNvPr id="11" name="Text 9"/>
          <p:cNvSpPr/>
          <p:nvPr/>
        </p:nvSpPr>
        <p:spPr>
          <a:xfrm>
            <a:off x="457200" y="4206240"/>
            <a:ext cx="18288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Week 2</a:t>
            </a:r>
            <a:endParaRPr lang="en-US" sz="1800" dirty="0"/>
          </a:p>
        </p:txBody>
      </p:sp>
      <p:sp>
        <p:nvSpPr>
          <p:cNvPr id="12" name="Shape 10"/>
          <p:cNvSpPr/>
          <p:nvPr/>
        </p:nvSpPr>
        <p:spPr>
          <a:xfrm>
            <a:off x="2468880" y="3931920"/>
            <a:ext cx="9235440" cy="1005840"/>
          </a:xfrm>
          <a:prstGeom prst="rect">
            <a:avLst/>
          </a:prstGeom>
          <a:solidFill>
            <a:srgbClr val="FAF8F2"/>
          </a:solidFill>
          <a:ln/>
        </p:spPr>
      </p:sp>
      <p:sp>
        <p:nvSpPr>
          <p:cNvPr id="13" name="Text 11"/>
          <p:cNvSpPr/>
          <p:nvPr/>
        </p:nvSpPr>
        <p:spPr>
          <a:xfrm>
            <a:off x="2651760" y="4041648"/>
            <a:ext cx="88696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Agent rollout + training</a:t>
            </a:r>
            <a:endParaRPr lang="en-US" sz="1600" dirty="0"/>
          </a:p>
        </p:txBody>
      </p:sp>
      <p:sp>
        <p:nvSpPr>
          <p:cNvPr id="14" name="Text 12"/>
          <p:cNvSpPr/>
          <p:nvPr/>
        </p:nvSpPr>
        <p:spPr>
          <a:xfrm>
            <a:off x="2651760" y="4389120"/>
            <a:ext cx="8869680" cy="5029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Each agent gets their free trial credit and a 20-minute live training (group or individual). Office admin sees the brokerage-wide dashboard. First production reports go live by end of week.</a:t>
            </a:r>
            <a:endParaRPr lang="en-US" sz="1250" dirty="0"/>
          </a:p>
        </p:txBody>
      </p:sp>
      <p:sp>
        <p:nvSpPr>
          <p:cNvPr id="15" name="Shape 13"/>
          <p:cNvSpPr/>
          <p:nvPr/>
        </p:nvSpPr>
        <p:spPr>
          <a:xfrm>
            <a:off x="457200" y="5120640"/>
            <a:ext cx="1828800" cy="1005840"/>
          </a:xfrm>
          <a:prstGeom prst="rect">
            <a:avLst/>
          </a:prstGeom>
          <a:solidFill>
            <a:srgbClr val="1E1B4B"/>
          </a:solidFill>
          <a:ln/>
        </p:spPr>
      </p:sp>
      <p:sp>
        <p:nvSpPr>
          <p:cNvPr id="16" name="Text 14"/>
          <p:cNvSpPr/>
          <p:nvPr/>
        </p:nvSpPr>
        <p:spPr>
          <a:xfrm>
            <a:off x="457200" y="5394960"/>
            <a:ext cx="18288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Ongoing</a:t>
            </a:r>
            <a:endParaRPr lang="en-US" sz="1800" dirty="0"/>
          </a:p>
        </p:txBody>
      </p:sp>
      <p:sp>
        <p:nvSpPr>
          <p:cNvPr id="17" name="Shape 15"/>
          <p:cNvSpPr/>
          <p:nvPr/>
        </p:nvSpPr>
        <p:spPr>
          <a:xfrm>
            <a:off x="2468880" y="5120640"/>
            <a:ext cx="9235440" cy="1005840"/>
          </a:xfrm>
          <a:prstGeom prst="rect">
            <a:avLst/>
          </a:prstGeom>
          <a:solidFill>
            <a:srgbClr val="FAF8F2"/>
          </a:solidFill>
          <a:ln/>
        </p:spPr>
      </p:sp>
      <p:sp>
        <p:nvSpPr>
          <p:cNvPr id="18" name="Text 16"/>
          <p:cNvSpPr/>
          <p:nvPr/>
        </p:nvSpPr>
        <p:spPr>
          <a:xfrm>
            <a:off x="2651760" y="5230368"/>
            <a:ext cx="8869680" cy="36576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Dedicated success</a:t>
            </a:r>
            <a:endParaRPr lang="en-US" sz="1600" dirty="0"/>
          </a:p>
        </p:txBody>
      </p:sp>
      <p:sp>
        <p:nvSpPr>
          <p:cNvPr id="19" name="Text 17"/>
          <p:cNvSpPr/>
          <p:nvPr/>
        </p:nvSpPr>
        <p:spPr>
          <a:xfrm>
            <a:off x="2651760" y="5577840"/>
            <a:ext cx="8869680" cy="502920"/>
          </a:xfrm>
          <a:prstGeom prst="rect">
            <a:avLst/>
          </a:prstGeom>
          <a:noFill/>
          <a:ln/>
        </p:spPr>
        <p:txBody>
          <a:bodyPr wrap="square" lIns="0" tIns="0" rIns="0" bIns="0" rtlCol="0" anchor="ctr"/>
          <a:lstStyle/>
          <a:p>
            <a:pPr indent="0" marL="0">
              <a:lnSpc>
                <a:spcPct val="130000"/>
              </a:lnSpc>
              <a:buNone/>
            </a:pPr>
            <a:r>
              <a:rPr lang="en-US" sz="1250" dirty="0">
                <a:solidFill>
                  <a:srgbClr val="334155"/>
                </a:solidFill>
                <a:latin typeface="Calibri" pitchFamily="34" charset="0"/>
                <a:ea typeface="Calibri" pitchFamily="34" charset="-122"/>
                <a:cs typeface="Calibri" pitchFamily="34" charset="-120"/>
              </a:rPr>
              <a:t>Quarterly business review with usage, ROI, and any quality issues. Direct line to the founder for escalations during the first 90 days. Roadmap input weighted by usage.</a:t>
            </a:r>
            <a:endParaRPr lang="en-US" sz="1250" dirty="0"/>
          </a:p>
        </p:txBody>
      </p:sp>
      <p:sp>
        <p:nvSpPr>
          <p:cNvPr id="20" name="Text 18"/>
          <p:cNvSpPr/>
          <p:nvPr/>
        </p:nvSpPr>
        <p:spPr>
          <a:xfrm>
            <a:off x="10728655" y="6446520"/>
            <a:ext cx="1280160" cy="274320"/>
          </a:xfrm>
          <a:prstGeom prst="rect">
            <a:avLst/>
          </a:prstGeom>
          <a:noFill/>
          <a:ln/>
        </p:spPr>
        <p:txBody>
          <a:bodyPr wrap="square" lIns="0" tIns="0" rIns="0" bIns="0" rtlCol="0" anchor="ctr"/>
          <a:lstStyle/>
          <a:p>
            <a:pPr algn="r" indent="0" marL="0">
              <a:buNone/>
            </a:pPr>
            <a:r>
              <a:rPr lang="en-US" sz="1200" b="1" dirty="0">
                <a:solidFill>
                  <a:srgbClr val="E85D75"/>
                </a:solidFill>
                <a:latin typeface="Calibri" pitchFamily="34" charset="0"/>
                <a:ea typeface="Calibri" pitchFamily="34" charset="-122"/>
                <a:cs typeface="Calibri" pitchFamily="34" charset="-120"/>
              </a:rPr>
              <a:t>veroax</a:t>
            </a:r>
            <a:pPr algn="r" indent="0" marL="0">
              <a:buNone/>
            </a:pPr>
            <a:r>
              <a:rPr lang="en-US" sz="1200" b="1" dirty="0">
                <a:solidFill>
                  <a:srgbClr val="3FB8AF"/>
                </a:solidFill>
                <a:latin typeface="Calibri" pitchFamily="34" charset="0"/>
                <a:ea typeface="Calibri" pitchFamily="34" charset="-122"/>
                <a:cs typeface="Calibri" pitchFamily="34" charset="-120"/>
              </a:rPr>
              <a:t> • </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0E2E"/>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E85D75"/>
          </a:solidFill>
          <a:ln/>
        </p:spPr>
      </p:sp>
      <p:sp>
        <p:nvSpPr>
          <p:cNvPr id="3" name="Shape 1"/>
          <p:cNvSpPr/>
          <p:nvPr/>
        </p:nvSpPr>
        <p:spPr>
          <a:xfrm>
            <a:off x="457200" y="0"/>
            <a:ext cx="182880" cy="6858000"/>
          </a:xfrm>
          <a:prstGeom prst="rect">
            <a:avLst/>
          </a:prstGeom>
          <a:solidFill>
            <a:srgbClr val="3FB8AF"/>
          </a:solidFill>
          <a:ln/>
        </p:spPr>
      </p:sp>
      <p:sp>
        <p:nvSpPr>
          <p:cNvPr id="4" name="Text 2"/>
          <p:cNvSpPr/>
          <p:nvPr/>
        </p:nvSpPr>
        <p:spPr>
          <a:xfrm>
            <a:off x="1280160" y="914400"/>
            <a:ext cx="10058400" cy="457200"/>
          </a:xfrm>
          <a:prstGeom prst="rect">
            <a:avLst/>
          </a:prstGeom>
          <a:noFill/>
          <a:ln/>
        </p:spPr>
        <p:txBody>
          <a:bodyPr wrap="square" lIns="0" tIns="0" rIns="0" bIns="0" rtlCol="0" anchor="ctr"/>
          <a:lstStyle/>
          <a:p>
            <a:pPr indent="0" marL="0">
              <a:buNone/>
            </a:pPr>
            <a:r>
              <a:rPr lang="en-US" sz="1400" b="1" spc="600" kern="0" dirty="0">
                <a:solidFill>
                  <a:srgbClr val="FCD34D"/>
                </a:solidFill>
                <a:latin typeface="Calibri" pitchFamily="34" charset="0"/>
                <a:ea typeface="Calibri" pitchFamily="34" charset="-122"/>
                <a:cs typeface="Calibri" pitchFamily="34" charset="-120"/>
              </a:rPr>
              <a:t>Next step</a:t>
            </a:r>
            <a:endParaRPr lang="en-US" sz="1400" dirty="0"/>
          </a:p>
        </p:txBody>
      </p:sp>
      <p:sp>
        <p:nvSpPr>
          <p:cNvPr id="5" name="Text 3"/>
          <p:cNvSpPr/>
          <p:nvPr/>
        </p:nvSpPr>
        <p:spPr>
          <a:xfrm>
            <a:off x="1280160" y="1554480"/>
            <a:ext cx="10515600" cy="1645920"/>
          </a:xfrm>
          <a:prstGeom prst="rect">
            <a:avLst/>
          </a:prstGeom>
          <a:noFill/>
          <a:ln/>
        </p:spPr>
        <p:txBody>
          <a:bodyPr wrap="square" lIns="0" tIns="0" rIns="0" bIns="0" rtlCol="0" anchor="ctr"/>
          <a:lstStyle/>
          <a:p>
            <a:pPr indent="0" marL="0">
              <a:lnSpc>
                <a:spcPct val="115000"/>
              </a:lnSpc>
              <a:buNone/>
            </a:pPr>
            <a:r>
              <a:rPr lang="en-US" sz="3400" b="1" dirty="0">
                <a:solidFill>
                  <a:srgbClr val="FFFFFF"/>
                </a:solidFill>
                <a:latin typeface="Calibri" pitchFamily="34" charset="0"/>
                <a:ea typeface="Calibri" pitchFamily="34" charset="-122"/>
                <a:cs typeface="Calibri" pitchFamily="34" charset="-120"/>
              </a:rPr>
              <a:t>Run a free disclosure analysis on a real package from your office.</a:t>
            </a:r>
            <a:endParaRPr lang="en-US" sz="3400" dirty="0"/>
          </a:p>
        </p:txBody>
      </p:sp>
      <p:sp>
        <p:nvSpPr>
          <p:cNvPr id="6" name="Text 4"/>
          <p:cNvSpPr/>
          <p:nvPr/>
        </p:nvSpPr>
        <p:spPr>
          <a:xfrm>
            <a:off x="1280160" y="3566160"/>
            <a:ext cx="10058400" cy="1645920"/>
          </a:xfrm>
          <a:prstGeom prst="rect">
            <a:avLst/>
          </a:prstGeom>
          <a:noFill/>
          <a:ln/>
        </p:spPr>
        <p:txBody>
          <a:bodyPr wrap="square" lIns="0" tIns="0" rIns="0" bIns="0" rtlCol="0" anchor="ctr"/>
          <a:lstStyle/>
          <a:p>
            <a:pPr indent="0" marL="0">
              <a:lnSpc>
                <a:spcPct val="140000"/>
              </a:lnSpc>
              <a:buNone/>
            </a:pPr>
            <a:r>
              <a:rPr lang="en-US" sz="1700" dirty="0">
                <a:solidFill>
                  <a:srgbClr val="CBD5E1"/>
                </a:solidFill>
                <a:latin typeface="Calibri Light" pitchFamily="34" charset="0"/>
                <a:ea typeface="Calibri Light" pitchFamily="34" charset="-122"/>
                <a:cs typeface="Calibri Light" pitchFamily="34" charset="-120"/>
              </a:rPr>
              <a:t>Pick a recent transaction with a meaty disclosure package. We will run the analysis at no cost, send you the branded PDF, and walk you through the result. If the report would have saved your agent three hours, the rest of the conversation is easy.</a:t>
            </a:r>
            <a:endParaRPr lang="en-US" sz="1700" dirty="0"/>
          </a:p>
        </p:txBody>
      </p:sp>
      <p:sp>
        <p:nvSpPr>
          <p:cNvPr id="7" name="Shape 5"/>
          <p:cNvSpPr/>
          <p:nvPr/>
        </p:nvSpPr>
        <p:spPr>
          <a:xfrm>
            <a:off x="1280160" y="5394960"/>
            <a:ext cx="9601200" cy="914400"/>
          </a:xfrm>
          <a:prstGeom prst="rect">
            <a:avLst/>
          </a:prstGeom>
          <a:solidFill>
            <a:srgbClr val="1E1B4B"/>
          </a:solidFill>
          <a:ln w="12700">
            <a:solidFill>
              <a:srgbClr val="4ECDC4"/>
            </a:solidFill>
            <a:prstDash val="solid"/>
          </a:ln>
        </p:spPr>
      </p:sp>
      <p:sp>
        <p:nvSpPr>
          <p:cNvPr id="8" name="Text 6"/>
          <p:cNvSpPr/>
          <p:nvPr/>
        </p:nvSpPr>
        <p:spPr>
          <a:xfrm>
            <a:off x="1554480" y="5486400"/>
            <a:ext cx="502920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Michael Fielden, Founder</a:t>
            </a:r>
            <a:endParaRPr lang="en-US" sz="1700" dirty="0"/>
          </a:p>
        </p:txBody>
      </p:sp>
      <p:sp>
        <p:nvSpPr>
          <p:cNvPr id="9" name="Text 7"/>
          <p:cNvSpPr/>
          <p:nvPr/>
        </p:nvSpPr>
        <p:spPr>
          <a:xfrm>
            <a:off x="1554480" y="5897880"/>
            <a:ext cx="7315200" cy="320040"/>
          </a:xfrm>
          <a:prstGeom prst="rect">
            <a:avLst/>
          </a:prstGeom>
          <a:noFill/>
          <a:ln/>
        </p:spPr>
        <p:txBody>
          <a:bodyPr wrap="square" lIns="0" tIns="0" rIns="0" bIns="0" rtlCol="0" anchor="ctr"/>
          <a:lstStyle/>
          <a:p>
            <a:pPr indent="0" marL="0">
              <a:buNone/>
            </a:pPr>
            <a:r>
              <a:rPr lang="en-US" sz="1300" dirty="0">
                <a:solidFill>
                  <a:srgbClr val="4ECDC4"/>
                </a:solidFill>
                <a:latin typeface="Calibri" pitchFamily="34" charset="0"/>
                <a:ea typeface="Calibri" pitchFamily="34" charset="-122"/>
                <a:cs typeface="Calibri" pitchFamily="34" charset="-120"/>
              </a:rPr>
              <a:t>michael@michaelfielden.com   •   (866) 247-8833</a:t>
            </a:r>
            <a:endParaRPr lang="en-US" sz="1300" dirty="0"/>
          </a:p>
        </p:txBody>
      </p:sp>
      <p:sp>
        <p:nvSpPr>
          <p:cNvPr id="10" name="Text 8"/>
          <p:cNvSpPr/>
          <p:nvPr/>
        </p:nvSpPr>
        <p:spPr>
          <a:xfrm>
            <a:off x="8046720" y="5486400"/>
            <a:ext cx="2743200" cy="411480"/>
          </a:xfrm>
          <a:prstGeom prst="rect">
            <a:avLst/>
          </a:prstGeom>
          <a:noFill/>
          <a:ln/>
        </p:spPr>
        <p:txBody>
          <a:bodyPr wrap="square" lIns="0" tIns="0" rIns="0" bIns="0" rtlCol="0" anchor="ctr"/>
          <a:lstStyle/>
          <a:p>
            <a:pPr algn="r" indent="0" marL="0">
              <a:buNone/>
            </a:pPr>
            <a:r>
              <a:rPr lang="en-US" sz="1700" b="1" dirty="0">
                <a:solidFill>
                  <a:srgbClr val="FFFFFF"/>
                </a:solidFill>
                <a:latin typeface="Calibri" pitchFamily="34" charset="0"/>
                <a:ea typeface="Calibri" pitchFamily="34" charset="-122"/>
                <a:cs typeface="Calibri" pitchFamily="34" charset="-120"/>
              </a:rPr>
              <a:t>www.veroax.com</a:t>
            </a:r>
            <a:endParaRPr lang="en-US" sz="1700" dirty="0"/>
          </a:p>
        </p:txBody>
      </p:sp>
      <p:sp>
        <p:nvSpPr>
          <p:cNvPr id="11" name="Text 9"/>
          <p:cNvSpPr/>
          <p:nvPr/>
        </p:nvSpPr>
        <p:spPr>
          <a:xfrm>
            <a:off x="8046720" y="5897880"/>
            <a:ext cx="2743200" cy="320040"/>
          </a:xfrm>
          <a:prstGeom prst="rect">
            <a:avLst/>
          </a:prstGeom>
          <a:noFill/>
          <a:ln/>
        </p:spPr>
        <p:txBody>
          <a:bodyPr wrap="square" lIns="0" tIns="0" rIns="0" bIns="0" rtlCol="0" anchor="ctr"/>
          <a:lstStyle/>
          <a:p>
            <a:pPr algn="r" indent="0" marL="0">
              <a:buNone/>
            </a:pPr>
            <a:r>
              <a:rPr lang="en-US" sz="1300" dirty="0">
                <a:solidFill>
                  <a:srgbClr val="CBD5E1"/>
                </a:solidFill>
                <a:latin typeface="Calibri" pitchFamily="34" charset="0"/>
                <a:ea typeface="Calibri" pitchFamily="34" charset="-122"/>
                <a:cs typeface="Calibri" pitchFamily="34" charset="-120"/>
              </a:rPr>
              <a:t>Schedule a call ›</a:t>
            </a:r>
            <a:endParaRPr lang="en-US" sz="1300" dirty="0"/>
          </a:p>
        </p:txBody>
      </p:sp>
      <p:sp>
        <p:nvSpPr>
          <p:cNvPr id="12" name="Text 10"/>
          <p:cNvSpPr/>
          <p:nvPr/>
        </p:nvSpPr>
        <p:spPr>
          <a:xfrm>
            <a:off x="9905695" y="6217920"/>
            <a:ext cx="2011680" cy="365760"/>
          </a:xfrm>
          <a:prstGeom prst="rect">
            <a:avLst/>
          </a:prstGeom>
          <a:noFill/>
          <a:ln/>
        </p:spPr>
        <p:txBody>
          <a:bodyPr wrap="square" lIns="0" tIns="0" rIns="0" bIns="0" rtlCol="0" anchor="ctr"/>
          <a:lstStyle/>
          <a:p>
            <a:pPr algn="r" indent="0" marL="0">
              <a:buNone/>
            </a:pPr>
            <a:r>
              <a:rPr lang="en-US" sz="2200" b="1" dirty="0">
                <a:solidFill>
                  <a:srgbClr val="FF6B6B"/>
                </a:solidFill>
                <a:latin typeface="Calibri" pitchFamily="34" charset="0"/>
                <a:ea typeface="Calibri" pitchFamily="34" charset="-122"/>
                <a:cs typeface="Calibri" pitchFamily="34" charset="-120"/>
              </a:rPr>
              <a:t>veroax</a:t>
            </a:r>
            <a:pPr algn="r" indent="0" marL="0">
              <a:buNone/>
            </a:pPr>
            <a:r>
              <a:rPr lang="en-US" sz="2200" b="1" dirty="0">
                <a:solidFill>
                  <a:srgbClr val="4ECDC4"/>
                </a:solidFill>
                <a:latin typeface="Calibri" pitchFamily="34" charset="0"/>
                <a:ea typeface="Calibri" pitchFamily="34" charset="-122"/>
                <a:cs typeface="Calibri" pitchFamily="34" charset="-120"/>
              </a:rPr>
              <a:t>•</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Veroax,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Veroax for Brokerages</dc:title>
  <dc:subject>PptxGenJS Presentation</dc:subject>
  <dc:creator>Veroax, Inc.</dc:creator>
  <cp:lastModifiedBy>Veroax, Inc.</cp:lastModifiedBy>
  <cp:revision>1</cp:revision>
  <dcterms:created xsi:type="dcterms:W3CDTF">2026-05-24T14:04:56Z</dcterms:created>
  <dcterms:modified xsi:type="dcterms:W3CDTF">2026-05-24T14:04:56Z</dcterms:modified>
</cp:coreProperties>
</file>