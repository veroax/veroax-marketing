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304"/>
    <p:restoredTop sz="94610"/>
  </p:normalViewPr>
  <p:slideViewPr>
    <p:cSldViewPr snapToGrid="0" snapToObjects="1">
      <p:cViewPr>
        <p:scale>
          <a:sx n="155" d="100"/>
          <a:sy n="155" d="100"/>
        </p:scale>
        <p:origin x="5088" y="2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124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182880" cy="6858000"/>
          </a:xfrm>
          <a:prstGeom prst="rect">
            <a:avLst/>
          </a:prstGeom>
          <a:solidFill>
            <a:srgbClr val="3FB8AF"/>
          </a:solidFill>
          <a:ln w="12700">
            <a:solidFill>
              <a:srgbClr val="3FB8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801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briefing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veroax</a:t>
            </a:r>
            <a:r>
              <a:rPr lang="en-US" sz="78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280160" y="2743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disclosure analysis for residential real estate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80160" y="402336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turn a 200 to 700 page California disclosure package into a polished, severity-rated, regionally-priced buyer report in minutes. Agents win deals. Buyers stop getting blindsided.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Fielden, Founder</a:t>
            </a:r>
            <a:r>
              <a:rPr lang="en-US" sz="1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michael@michaelfielden.com</a:t>
            </a:r>
            <a:r>
              <a:rPr lang="en-US" sz="1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(866) 247-8833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disclosure package is where deals go sideways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California residential resale ships with 200 to 700+ pages of disclosures: TDS, SPQ, AVID, NHD, HOA documents, inspection reports, third-party reports. Buyer's agents have hours, not days. So they skim or just simply pass them on to the buyer to fend for themselves.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89520" y="1828800"/>
            <a:ext cx="2103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2668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200-700+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26680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per package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875520" y="1828800"/>
            <a:ext cx="2103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1268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5 hr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012680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time to do it right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89520" y="3291840"/>
            <a:ext cx="2103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26680" y="3429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726680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agents bill for that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875520" y="3291840"/>
            <a:ext cx="2103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12680" y="3429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012680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 deals hit a renegotiation moment a careful read could have flagged earlier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learn about the unpermitted addition, the FPE panel, the failing roof, or the active HOA litigation AFTER they have removed contingencies. The agent absorbs the trust hit.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veroax</a:t>
            </a:r>
            <a:r>
              <a:rPr lang="en-US" sz="1200" b="1" dirty="0">
                <a:solidFill>
                  <a:srgbClr val="3F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package. Deliver a defensible review in minutes.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3657600" cy="3291840"/>
          </a:xfrm>
          <a:prstGeom prst="rect">
            <a:avLst/>
          </a:prstGeom>
          <a:solidFill>
            <a:srgbClr val="FAF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657600" cy="109728"/>
          </a:xfrm>
          <a:prstGeom prst="rect">
            <a:avLst/>
          </a:prstGeom>
          <a:solidFill>
            <a:srgbClr val="E8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3FB8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Multi-pass AI pipeline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PDF attachments for seller disclosures and inspection reports (AI sees check-boxes, signatures, side-by-side tables). Text extraction for HOA bundles. Temperature locked at 0 so re-runs match.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194560"/>
            <a:ext cx="3657600" cy="3291840"/>
          </a:xfrm>
          <a:prstGeom prst="rect">
            <a:avLst/>
          </a:prstGeom>
          <a:solidFill>
            <a:srgbClr val="FAF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43400" y="2194560"/>
            <a:ext cx="3657600" cy="109728"/>
          </a:xfrm>
          <a:prstGeom prst="rect">
            <a:avLst/>
          </a:prstGeom>
          <a:solidFill>
            <a:srgbClr val="E8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2514600"/>
            <a:ext cx="502920" cy="502920"/>
          </a:xfrm>
          <a:prstGeom prst="ellipse">
            <a:avLst/>
          </a:prstGeom>
          <a:solidFill>
            <a:srgbClr val="3FB8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3154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14-section client-ready report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3886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Severity-rated findings (Critical / High / Moderate / Cosmetic), regional cost estimates grounded in California pricing data, HOA review, environmental hazards, negotiation leverage, an overall property rating.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2194560"/>
            <a:ext cx="3657600" cy="3291840"/>
          </a:xfrm>
          <a:prstGeom prst="rect">
            <a:avLst/>
          </a:prstGeom>
          <a:solidFill>
            <a:srgbClr val="FAF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0" y="2194560"/>
            <a:ext cx="3657600" cy="109728"/>
          </a:xfrm>
          <a:prstGeom prst="rect">
            <a:avLst/>
          </a:prstGeom>
          <a:solidFill>
            <a:srgbClr val="E8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503920" y="2514600"/>
            <a:ext cx="502920" cy="502920"/>
          </a:xfrm>
          <a:prstGeom prst="ellipse">
            <a:avLst/>
          </a:prstGeom>
          <a:solidFill>
            <a:srgbClr val="3FB8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039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0" y="3154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PDF the agent ships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03920" y="3886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Agent's logo, photo, contact details. Public web share link plus a one-click email send. The buyer holds a deliverable they can defend. The agent looks thorough on day one.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built for California disclosures first. The pipeline ports to Texas, Florida, and Washington with the same architecture.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veroax</a:t>
            </a:r>
            <a:r>
              <a:rPr lang="en-US" sz="1200" b="1" dirty="0">
                <a:solidFill>
                  <a:srgbClr val="3F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upload to client-ready deliverable in three steps. The agent stays in the loop all the way through and the presentation is theirs, branded to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868680" cy="868680"/>
          </a:xfrm>
          <a:prstGeom prst="ellipse">
            <a:avLst/>
          </a:prstGeom>
          <a:solidFill>
            <a:srgbClr val="E8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2514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package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2971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the PDFs from Disclosures.io or any other source. Multi-PDF packages auto-split for the analyzer's context window.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868680" cy="868680"/>
          </a:xfrm>
          <a:prstGeom prst="ellipse">
            <a:avLst/>
          </a:prstGeom>
          <a:solidFill>
            <a:srgbClr val="3FB8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3794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runs the 14-section analysis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4251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cost reference library is built fresh per market. Every finding tagged with confidence (High / Medium / Low).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868680" cy="868680"/>
          </a:xfrm>
          <a:prstGeom prst="ellipse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37360" y="5074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reviews, then client gets the PDF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37360" y="5532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QA view shows critical and high findings first. Approve, edit if needed, branded PDF + client email ready to send.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veroax</a:t>
            </a:r>
            <a:r>
              <a:rPr lang="en-US" sz="1200" b="1" dirty="0">
                <a:solidFill>
                  <a:srgbClr val="3F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California first. Then the next three highest-volume disclosure-heavy markets.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657600" cy="2011680"/>
          </a:xfrm>
          <a:prstGeom prst="rect">
            <a:avLst/>
          </a:prstGeom>
          <a:solidFill>
            <a:srgbClr val="0F0E2E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350K+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real-estate agents in California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377440"/>
            <a:ext cx="3657600" cy="2011680"/>
          </a:xfrm>
          <a:prstGeom prst="rect">
            <a:avLst/>
          </a:prstGeom>
          <a:solidFill>
            <a:srgbClr val="0F0E2E"/>
          </a:solidFill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2560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400K+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72000" y="3429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residential transactions in California (NAR / CAR estimates)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2377440"/>
            <a:ext cx="3657600" cy="2011680"/>
          </a:xfrm>
          <a:prstGeom prst="rect">
            <a:avLst/>
          </a:prstGeom>
          <a:solidFill>
            <a:srgbClr val="0F0E2E"/>
          </a:solidFill>
          <a:ln w="190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58200" y="2560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$1.4B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8458200" y="3429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spend per year, agent + paralegal time on disclosure review (CA only, conservative)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sequence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5212080"/>
            <a:ext cx="2560320" cy="914400"/>
          </a:xfrm>
          <a:prstGeom prst="roundRect">
            <a:avLst>
              <a:gd name="adj" fmla="val 15000"/>
            </a:avLst>
          </a:prstGeom>
          <a:solidFill>
            <a:srgbClr val="0F0E2E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5303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5715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5212080"/>
            <a:ext cx="2560320" cy="914400"/>
          </a:xfrm>
          <a:prstGeom prst="roundRect">
            <a:avLst>
              <a:gd name="adj" fmla="val 15000"/>
            </a:avLst>
          </a:prstGeom>
          <a:solidFill>
            <a:srgbClr val="0F0E2E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29000" y="5303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29000" y="5715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5212080"/>
            <a:ext cx="2560320" cy="914400"/>
          </a:xfrm>
          <a:prstGeom prst="roundRect">
            <a:avLst>
              <a:gd name="adj" fmla="val 15000"/>
            </a:avLst>
          </a:prstGeom>
          <a:solidFill>
            <a:srgbClr val="0F0E2E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63640" y="5303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63640" y="5715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61120" y="5212080"/>
            <a:ext cx="2560320" cy="914400"/>
          </a:xfrm>
          <a:prstGeom prst="roundRect">
            <a:avLst>
              <a:gd name="adj" fmla="val 15000"/>
            </a:avLst>
          </a:prstGeom>
          <a:solidFill>
            <a:srgbClr val="0F0E2E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098280" y="5303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098280" y="5715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veroax</a:t>
            </a: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+ transactional. Margin is strong even at the entry tier.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651760" cy="2011680"/>
          </a:xfrm>
          <a:prstGeom prst="rect">
            <a:avLst/>
          </a:prstGeom>
          <a:solidFill>
            <a:srgbClr val="FAF8F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 / mo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reports incl. + $59 each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286000"/>
            <a:ext cx="2651760" cy="20116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880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$149 / mo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2044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A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reports incl. + $29 each, 3 seats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286000"/>
            <a:ext cx="2651760" cy="2011680"/>
          </a:xfrm>
          <a:prstGeom prst="rect">
            <a:avLst/>
          </a:prstGeom>
          <a:solidFill>
            <a:srgbClr val="FAF8F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880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$449 / mo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reports incl. + custom, 25 seats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98280" y="2286000"/>
            <a:ext cx="2651760" cy="2011680"/>
          </a:xfrm>
          <a:prstGeom prst="rect">
            <a:avLst/>
          </a:prstGeom>
          <a:solidFill>
            <a:srgbClr val="FAF8F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8116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81160" y="2880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/ report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28116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 agents, occasional use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11247120" cy="1554480"/>
          </a:xfrm>
          <a:prstGeom prst="rect">
            <a:avLst/>
          </a:prstGeom>
          <a:solidFill>
            <a:srgbClr val="0F0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economics, per report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074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pays (Solo overage)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5440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$59.00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474720" y="5074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Sonnet 4.5 cost (typical pkg)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0" y="5440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$0.72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217920" y="5074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+ infra (allocated)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5440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$0.15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961120" y="5074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61120" y="5440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veroax</a:t>
            </a:r>
            <a:r>
              <a:rPr lang="en-US" sz="1200" b="1" dirty="0">
                <a:solidFill>
                  <a:srgbClr val="3F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forces converging that did not exist 18 months ago.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914400" cy="914400"/>
          </a:xfrm>
          <a:prstGeom prst="ellipse">
            <a:avLst/>
          </a:prstGeom>
          <a:solidFill>
            <a:srgbClr val="E8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331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quality crossed the threshold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7889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 reads 1,000-page mixed-PDF packages with check-boxes, signatures, and inline tables. Output is reliably structured, severity-aware, and citation-bound. Two years ago this could not be done at production quality.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914400" cy="914400"/>
          </a:xfrm>
          <a:prstGeom prst="ellipse">
            <a:avLst/>
          </a:prstGeom>
          <a:solidFill>
            <a:srgbClr val="3FB8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3657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disclosure stakes are rising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4114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38 (defensible-space disclosures), FAIR Plan instability, new CALFIRE wildfire maps, SB 326 / SB 800 balcony inspections. Buyers and agents face more required disclosure data than any other state.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937760"/>
            <a:ext cx="914400" cy="914400"/>
          </a:xfrm>
          <a:prstGeom prst="ellipse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937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4983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Brokerage margins under pressure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54406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Post-NAR-settlement commission compression has every brokerage looking for ways to differentiate service without raising headcount. A defensible disclosure review is a high-leverage spend.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veroax</a:t>
            </a:r>
            <a:r>
              <a:rPr lang="en-US" sz="1200" b="1" dirty="0">
                <a:solidFill>
                  <a:srgbClr val="3F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defensible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5486400" cy="1920240"/>
          </a:xfrm>
          <a:prstGeom prst="rect">
            <a:avLst/>
          </a:prstGeom>
          <a:solidFill>
            <a:srgbClr val="FAF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09728" cy="1920240"/>
          </a:xfrm>
          <a:prstGeom prst="rect">
            <a:avLst/>
          </a:prstGeom>
          <a:solidFill>
            <a:srgbClr val="E8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California-specific prompt engineering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rubric, regional cost library, statute-aware guidance (Civ. Code §1102, AB 38, Davis-Stirling). Months of iteration on real packages.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486400" cy="1920240"/>
          </a:xfrm>
          <a:prstGeom prst="rect">
            <a:avLst/>
          </a:prstGeom>
          <a:solidFill>
            <a:srgbClr val="FAF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109728" cy="1920240"/>
          </a:xfrm>
          <a:prstGeom prst="rect">
            <a:avLst/>
          </a:prstGeom>
          <a:solidFill>
            <a:srgbClr val="3FB8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PDF + text pipeline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PDF attachments for severity-bearing documents (preserves check-boxes, signatures). Text-only for layout-irrelevant HOA bundles. Token cost optimized.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5486400" cy="1920240"/>
          </a:xfrm>
          <a:prstGeom prst="rect">
            <a:avLst/>
          </a:prstGeom>
          <a:solidFill>
            <a:srgbClr val="FAF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109728" cy="1920240"/>
          </a:xfrm>
          <a:prstGeom prst="rect">
            <a:avLst/>
          </a:prstGeom>
          <a:solidFill>
            <a:srgbClr val="E8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the agent workflow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48463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PDF, client email draft, public share view, 30-day re-analysis window. Not a chat tool. A deliverable an agent already needed to produce.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4114800"/>
            <a:ext cx="5486400" cy="1920240"/>
          </a:xfrm>
          <a:prstGeom prst="rect">
            <a:avLst/>
          </a:prstGeom>
          <a:solidFill>
            <a:srgbClr val="FAF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4114800"/>
            <a:ext cx="109728" cy="1920240"/>
          </a:xfrm>
          <a:prstGeom prst="rect">
            <a:avLst/>
          </a:prstGeom>
          <a:solidFill>
            <a:srgbClr val="3FB8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0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+ privacy posture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83680" y="48463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never enters the audit log. Foundation-model training prohibited by contract. RLS on every row. Trust matters most in disclosure analysis.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veroax</a:t>
            </a:r>
            <a:r>
              <a:rPr lang="en-US" sz="1200" b="1" dirty="0">
                <a:solidFill>
                  <a:srgbClr val="3F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+ use of funds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51760" cy="164592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live, beta agents onboarded, paid plans active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920240"/>
            <a:ext cx="2651760" cy="1645920"/>
          </a:xfrm>
          <a:prstGeom prst="rect">
            <a:avLst/>
          </a:prstGeom>
          <a:solidFill>
            <a:srgbClr val="FAF8F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24688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+ Florida launch. Brokerage tier sales motion.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651760" cy="1645920"/>
          </a:xfrm>
          <a:prstGeom prst="rect">
            <a:avLst/>
          </a:prstGeom>
          <a:solidFill>
            <a:srgbClr val="FAF8F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5508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24688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launch. Agent-team dashboards. API for MLS integrators.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98280" y="1920240"/>
            <a:ext cx="2651760" cy="1645920"/>
          </a:xfrm>
          <a:prstGeom prst="rect">
            <a:avLst/>
          </a:prstGeom>
          <a:solidFill>
            <a:srgbClr val="FAF8F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3544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35440" y="24688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coverage. White-label OEM for portal partners.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 (target raise)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4498848" cy="411480"/>
          </a:xfrm>
          <a:prstGeom prst="rect">
            <a:avLst/>
          </a:prstGeom>
          <a:solidFill>
            <a:srgbClr val="E8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56048" y="4480560"/>
            <a:ext cx="3374136" cy="411480"/>
          </a:xfrm>
          <a:prstGeom prst="rect">
            <a:avLst/>
          </a:prstGeom>
          <a:solidFill>
            <a:srgbClr val="3FB8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30184" y="4480560"/>
            <a:ext cx="169164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21824" y="4480560"/>
            <a:ext cx="1691640" cy="41148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5074920"/>
            <a:ext cx="201168" cy="201168"/>
          </a:xfrm>
          <a:prstGeom prst="ellipse">
            <a:avLst/>
          </a:prstGeom>
          <a:solidFill>
            <a:srgbClr val="E8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9808" y="50566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+ ML quality (40%)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5074920"/>
            <a:ext cx="201168" cy="201168"/>
          </a:xfrm>
          <a:prstGeom prst="ellipse">
            <a:avLst/>
          </a:prstGeom>
          <a:solidFill>
            <a:srgbClr val="3FB8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10528" y="50566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+ brokerage GTM (30%)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44068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9808" y="54223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+ agent education (15%)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5440680"/>
            <a:ext cx="201168" cy="201168"/>
          </a:xfrm>
          <a:prstGeom prst="ellipse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10528" y="54223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+ compliance (15%)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veroax</a:t>
            </a:r>
            <a:r>
              <a:rPr lang="en-US" sz="1200" b="1" dirty="0">
                <a:solidFill>
                  <a:srgbClr val="3F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182880" cy="6858000"/>
          </a:xfrm>
          <a:prstGeom prst="rect">
            <a:avLst/>
          </a:prstGeom>
          <a:solidFill>
            <a:srgbClr val="3FB8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801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1554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raising to take California to Texas, Florida, and Washington.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80160" y="32918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you invest in proptech, agent-productivity software, or vertical AI applications, we'd like to walk you through the product live and answer any due-diligence questions in real time.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280160" y="4754880"/>
            <a:ext cx="9601200" cy="1280160"/>
          </a:xfrm>
          <a:prstGeom prst="rect">
            <a:avLst/>
          </a:prstGeom>
          <a:solidFill>
            <a:srgbClr val="1E1B4B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5448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Fielden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Veroax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5532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michael@michaelfielden.com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(866) 247-8833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1792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www.veroax.com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5532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Clara, CA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05695" y="6217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veroax</a:t>
            </a:r>
            <a:r>
              <a:rPr lang="en-US" sz="2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1089</Words>
  <Application>Microsoft Macintosh PowerPoint</Application>
  <PresentationFormat>Widescreen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Veroax,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Veroax — investor pitch</dc:title>
  <dc:subject>PptxGenJS Presentation</dc:subject>
  <dc:creator>Veroax, Inc.</dc:creator>
  <cp:lastModifiedBy>Michael Fielden</cp:lastModifiedBy>
  <cp:revision>2</cp:revision>
  <dcterms:created xsi:type="dcterms:W3CDTF">2026-05-24T14:02:02Z</dcterms:created>
  <dcterms:modified xsi:type="dcterms:W3CDTF">2026-05-25T03:39:19Z</dcterms:modified>
</cp:coreProperties>
</file>